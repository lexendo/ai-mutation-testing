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0" r:id="rId13"/>
    <p:sldId id="269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8" autoAdjust="0"/>
    <p:restoredTop sz="94660"/>
  </p:normalViewPr>
  <p:slideViewPr>
    <p:cSldViewPr snapToGrid="0">
      <p:cViewPr varScale="1">
        <p:scale>
          <a:sx n="97" d="100"/>
          <a:sy n="97" d="100"/>
        </p:scale>
        <p:origin x="84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66CD5A-5615-4970-A349-00E326E3640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D7EFF-BDB5-429B-8A65-8726442C57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732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 err="1"/>
              <a:t>Farbicky</a:t>
            </a:r>
            <a:r>
              <a:rPr lang="sk-SK" dirty="0"/>
              <a:t> pre </a:t>
            </a:r>
            <a:r>
              <a:rPr lang="sk-SK" dirty="0" err="1"/>
              <a:t>irelevant</a:t>
            </a:r>
            <a:r>
              <a:rPr lang="sk-SK" dirty="0"/>
              <a:t> veci a dobre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1E2AB0-63BD-4FA2-8FEA-94CD8D27CE6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03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Nahradit</a:t>
            </a:r>
            <a:r>
              <a:rPr lang="en-US" dirty="0"/>
              <a:t> </a:t>
            </a:r>
            <a:r>
              <a:rPr lang="en-US" dirty="0" err="1"/>
              <a:t>videom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1E01AF-7F3D-440E-B0AB-FE9198EE07C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669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Skusit</a:t>
            </a:r>
            <a:r>
              <a:rPr lang="en-US" dirty="0"/>
              <a:t> </a:t>
            </a:r>
            <a:r>
              <a:rPr lang="en-US" dirty="0" err="1"/>
              <a:t>najst</a:t>
            </a:r>
            <a:r>
              <a:rPr lang="en-US" dirty="0"/>
              <a:t> design pattern v </a:t>
            </a:r>
            <a:r>
              <a:rPr lang="en-US" dirty="0" err="1"/>
              <a:t>cr</a:t>
            </a:r>
            <a:r>
              <a:rPr lang="en-US" dirty="0"/>
              <a:t> </a:t>
            </a:r>
            <a:r>
              <a:rPr lang="en-US" dirty="0" err="1"/>
              <a:t>alebo</a:t>
            </a:r>
            <a:r>
              <a:rPr lang="en-US" dirty="0"/>
              <a:t> v </a:t>
            </a:r>
            <a:r>
              <a:rPr lang="en-US" dirty="0" err="1"/>
              <a:t>tejto</a:t>
            </a:r>
            <a:r>
              <a:rPr lang="en-US" dirty="0"/>
              <a:t> </a:t>
            </a:r>
            <a:r>
              <a:rPr lang="en-US" dirty="0" err="1"/>
              <a:t>impl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1E01AF-7F3D-440E-B0AB-FE9198EE07C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19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F66C1-B5D9-E0B7-D328-A3A3AD815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4EEE9E-96C8-D2E1-D5A8-5EA0F5DB0C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C4BF0-BDB6-5863-9E3E-7985140BF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73DD-67C7-4F3B-8A24-4107BF2ACF72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64DB7-BF28-627D-AB8D-F6EBBE569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6C1A5-6430-9B9D-E3CB-8EEBDE8AE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EC0C3-BADA-4A6D-BDF5-0D74471E5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144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4BB6D-D7A8-478F-854A-0BD146508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C9089-783D-4E92-9D5B-68D67BEB8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4D99F-492D-8192-0974-905367BDB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73DD-67C7-4F3B-8A24-4107BF2ACF72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ECC51-4A8D-889B-0D50-43A65C2ED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C4EC6-2874-ECBB-CC3B-9762EDC17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EC0C3-BADA-4A6D-BDF5-0D74471E5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728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85A5E-70A0-7964-2326-6630AA08D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9366D4-7D35-867F-BD85-E9E3ED8F9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4364-F9BA-38A6-480B-5E0BF8EEA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73DD-67C7-4F3B-8A24-4107BF2ACF72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C4AD9-7257-6F99-2B16-A8167EEA3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07663-AFD9-1F06-1DED-3D60BB1EF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EC0C3-BADA-4A6D-BDF5-0D74471E5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843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DA325-B121-2FDB-B3D0-F2481A528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FEC40-9F0C-4E99-E8F3-7E6B854C60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E5B7C5-4E95-FD4F-9597-6D180CBAF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946E2C-AA42-5806-2E31-0DC16E65C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73DD-67C7-4F3B-8A24-4107BF2ACF72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775D77-1A61-C0FB-19EB-24ADCDFA3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E0696-BB09-B2FB-B9C5-3B170C97F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EC0C3-BADA-4A6D-BDF5-0D74471E5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360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D321B-5966-478D-3BB2-B6A66E5F4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67568-5E96-9F6C-ACDA-4E450F14E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DD95A-9886-044A-3CE5-C0699064A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AF4C5F-FEA5-046C-F8A9-E1A39EC535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304E36-3166-BB5F-D979-CABE5577CB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D83168-E1B4-AF8F-C606-08B21265A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73DD-67C7-4F3B-8A24-4107BF2ACF72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2C46ED-0EEC-B46A-0D43-23BA937E9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330B45-06E7-70A9-9C68-3048CE61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EC0C3-BADA-4A6D-BDF5-0D74471E5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86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AAB68-6A96-6102-9236-EFBBBA901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38225C-7EF4-EA3E-7857-85371D2C3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73DD-67C7-4F3B-8A24-4107BF2ACF72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16F939-740B-462D-F70C-478BAA1C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C1C959-5914-B767-E6CF-D7D8670AC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EC0C3-BADA-4A6D-BDF5-0D74471E5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964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73CA57-01E4-B835-9B4D-AAD84E621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73DD-67C7-4F3B-8A24-4107BF2ACF72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6B1F0E-1F79-9B96-9A1D-90F27E725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51B24-34D6-3884-3DEB-4FC622212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EC0C3-BADA-4A6D-BDF5-0D74471E5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642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CAECC-4086-69DF-0334-56F79BF1C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A879B-4140-3972-BFD4-AFE74E17B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5C123F-6AE9-95DC-A5F5-460D47CDB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60911-0DE3-992C-7E60-C0A30FDBF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73DD-67C7-4F3B-8A24-4107BF2ACF72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C7AB7-E127-A70D-EDFC-D21AE264C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B28AB6-8540-F35C-3993-0AACEB92C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EC0C3-BADA-4A6D-BDF5-0D74471E5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964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74C4E-2311-D534-C27E-05EDCB54C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494C59-D194-276F-59D4-FED250C79A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EEEDA8-28A6-6FF7-54B6-B74052869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ECC273-8906-7C3D-C821-FA312D9BE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73DD-67C7-4F3B-8A24-4107BF2ACF72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B0C8E2-7D4A-FB10-C02E-11EFFA067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79A271-BC10-2DEF-221F-4C6BBC995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EC0C3-BADA-4A6D-BDF5-0D74471E5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352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3AEA3-6427-73C2-9BB8-C2492E68F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173687-0A38-862D-483D-BAE4865884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6C8CB-87C0-1619-D9F2-93CECDC8C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73DD-67C7-4F3B-8A24-4107BF2ACF72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236C8-7E55-FD25-0198-CE1A62E9F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8F80C-5C9C-79DD-6DCB-E88E6454C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EC0C3-BADA-4A6D-BDF5-0D74471E5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576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660E31-0481-DAF6-CF7B-C37057CDA8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1B4922-BD39-EC1B-B1EA-7F3BA4C39D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E5650-7F2A-431B-D865-2C7249B58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73DD-67C7-4F3B-8A24-4107BF2ACF72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320CF-3C4F-45F8-BF5B-D67DB78A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2D7DF-5A26-44DE-9CE9-C58FBB5E2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EC0C3-BADA-4A6D-BDF5-0D74471E5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433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BCE6F-BC2C-A7F7-97F4-22BA37A48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C41C8-89E2-4A87-05E9-874A31072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BFA50-87AD-F1F4-06D3-84B050825D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0873DD-67C7-4F3B-8A24-4107BF2ACF72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D5596-E1C2-95DF-5FD6-B9B6DD18BB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614A5-63E0-768A-0328-2D4979F13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2EC0C3-BADA-4A6D-BDF5-0D74471E5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409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python-validators/validators/issues/44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t.fmph.uniba.sk/~babinsky4/mutationtestin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6F840-7F92-5F31-6626-4A74FB03BE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Testovanie mutácií s podporou umelej inteligencie: Inteligentné procesy</a:t>
            </a: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pre automatizované zabezpečenie kvality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9208FE-6409-80BC-2FD8-6A5645D660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 </a:t>
            </a:r>
            <a:r>
              <a:rPr lang="en-US" dirty="0" err="1"/>
              <a:t>Bc</a:t>
            </a:r>
            <a:r>
              <a:rPr lang="en-US" dirty="0"/>
              <a:t>. Ondrej Babinský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298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Freeform: Shape 104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D59D1E-9FF6-E595-4C65-FE2AF9C28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413" y="585488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 err="1"/>
              <a:t>Problém</a:t>
            </a:r>
            <a:r>
              <a:rPr lang="en-US" dirty="0"/>
              <a:t>: Code coverage </a:t>
            </a:r>
            <a:r>
              <a:rPr lang="en-US" dirty="0" err="1"/>
              <a:t>neznamená</a:t>
            </a:r>
            <a:r>
              <a:rPr lang="en-US" dirty="0"/>
              <a:t> </a:t>
            </a:r>
            <a:r>
              <a:rPr lang="en-US" dirty="0" err="1"/>
              <a:t>kvalitné</a:t>
            </a:r>
            <a:r>
              <a:rPr lang="en-US" dirty="0"/>
              <a:t> testy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05693-BF05-4A87-7CD0-59C86322D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129" y="2198362"/>
            <a:ext cx="5814994" cy="4074150"/>
          </a:xfrm>
        </p:spPr>
        <p:txBody>
          <a:bodyPr>
            <a:normAutofit/>
          </a:bodyPr>
          <a:lstStyle/>
          <a:p>
            <a:r>
              <a:rPr lang="en-US" sz="2000" dirty="0"/>
              <a:t>Pri </a:t>
            </a:r>
            <a:r>
              <a:rPr lang="en-US" sz="2000" dirty="0" err="1"/>
              <a:t>vývoji</a:t>
            </a:r>
            <a:r>
              <a:rPr lang="en-US" sz="2000" dirty="0"/>
              <a:t> je </a:t>
            </a:r>
            <a:r>
              <a:rPr lang="en-US" sz="2000" dirty="0" err="1"/>
              <a:t>ťažké</a:t>
            </a:r>
            <a:r>
              <a:rPr lang="en-US" sz="2000" dirty="0"/>
              <a:t> </a:t>
            </a:r>
            <a:r>
              <a:rPr lang="en-US" sz="2000" dirty="0" err="1"/>
              <a:t>určiť</a:t>
            </a:r>
            <a:r>
              <a:rPr lang="en-US" sz="2000" dirty="0"/>
              <a:t>, </a:t>
            </a:r>
            <a:r>
              <a:rPr lang="en-US" sz="2000" dirty="0" err="1"/>
              <a:t>či</a:t>
            </a:r>
            <a:r>
              <a:rPr lang="en-US" sz="2000" dirty="0"/>
              <a:t> testy </a:t>
            </a:r>
            <a:r>
              <a:rPr lang="en-US" sz="2000" dirty="0" err="1"/>
              <a:t>naozaj</a:t>
            </a:r>
            <a:r>
              <a:rPr lang="en-US" sz="2000" dirty="0"/>
              <a:t> </a:t>
            </a:r>
            <a:r>
              <a:rPr lang="en-US" sz="2000" dirty="0" err="1"/>
              <a:t>overujú</a:t>
            </a:r>
            <a:r>
              <a:rPr lang="en-US" sz="2000" dirty="0"/>
              <a:t> </a:t>
            </a:r>
            <a:r>
              <a:rPr lang="en-US" sz="2000" dirty="0" err="1"/>
              <a:t>správne</a:t>
            </a:r>
            <a:r>
              <a:rPr lang="en-US" sz="2000" dirty="0"/>
              <a:t> </a:t>
            </a:r>
            <a:r>
              <a:rPr lang="en-US" sz="2000" dirty="0" err="1"/>
              <a:t>správanie</a:t>
            </a:r>
            <a:r>
              <a:rPr lang="en-US" sz="2000" dirty="0"/>
              <a:t> </a:t>
            </a:r>
            <a:r>
              <a:rPr lang="en-US" sz="2000" dirty="0" err="1"/>
              <a:t>programu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Bežná</a:t>
            </a:r>
            <a:r>
              <a:rPr lang="en-US" sz="2000" dirty="0"/>
              <a:t> </a:t>
            </a:r>
            <a:r>
              <a:rPr lang="en-US" sz="2000" dirty="0" err="1"/>
              <a:t>metrika</a:t>
            </a:r>
            <a:r>
              <a:rPr lang="en-US" sz="2000" dirty="0"/>
              <a:t> je </a:t>
            </a:r>
            <a:r>
              <a:rPr lang="en-US" sz="2000" b="1" dirty="0"/>
              <a:t>code coverage</a:t>
            </a:r>
            <a:r>
              <a:rPr lang="en-US" sz="2000" dirty="0"/>
              <a:t> - </a:t>
            </a:r>
            <a:r>
              <a:rPr lang="en-US" sz="2000" dirty="0" err="1"/>
              <a:t>koľko</a:t>
            </a:r>
            <a:r>
              <a:rPr lang="en-US" sz="2000" dirty="0"/>
              <a:t> </a:t>
            </a:r>
            <a:r>
              <a:rPr lang="en-US" sz="2000" dirty="0" err="1"/>
              <a:t>riadkov</a:t>
            </a:r>
            <a:r>
              <a:rPr lang="en-US" sz="2000" dirty="0"/>
              <a:t>/</a:t>
            </a:r>
            <a:r>
              <a:rPr lang="en-US" sz="2000" dirty="0" err="1"/>
              <a:t>funkcií</a:t>
            </a:r>
            <a:r>
              <a:rPr lang="en-US" sz="2000" dirty="0"/>
              <a:t> testy </a:t>
            </a:r>
            <a:r>
              <a:rPr lang="en-US" sz="2000" dirty="0" err="1"/>
              <a:t>vykonajú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Problém</a:t>
            </a:r>
            <a:r>
              <a:rPr lang="en-US" sz="2000" dirty="0"/>
              <a:t>: coverage </a:t>
            </a:r>
            <a:r>
              <a:rPr lang="en-US" sz="2000" dirty="0" err="1"/>
              <a:t>hovorí</a:t>
            </a:r>
            <a:r>
              <a:rPr lang="en-US" sz="2000" dirty="0"/>
              <a:t> </a:t>
            </a:r>
            <a:r>
              <a:rPr lang="en-US" sz="2000" dirty="0" err="1"/>
              <a:t>iba</a:t>
            </a:r>
            <a:r>
              <a:rPr lang="en-US" sz="2000" dirty="0"/>
              <a:t> to, </a:t>
            </a:r>
            <a:r>
              <a:rPr lang="en-US" sz="2000" dirty="0" err="1"/>
              <a:t>že</a:t>
            </a:r>
            <a:r>
              <a:rPr lang="en-US" sz="2000" dirty="0"/>
              <a:t> </a:t>
            </a:r>
            <a:r>
              <a:rPr lang="en-US" sz="2000" dirty="0" err="1"/>
              <a:t>sa</a:t>
            </a:r>
            <a:r>
              <a:rPr lang="en-US" sz="2000" dirty="0"/>
              <a:t> </a:t>
            </a:r>
            <a:r>
              <a:rPr lang="en-US" sz="2000" dirty="0" err="1"/>
              <a:t>kód</a:t>
            </a:r>
            <a:r>
              <a:rPr lang="en-US" sz="2000" dirty="0"/>
              <a:t> </a:t>
            </a:r>
            <a:r>
              <a:rPr lang="en-US" sz="2000" dirty="0" err="1"/>
              <a:t>spustil</a:t>
            </a:r>
            <a:r>
              <a:rPr lang="en-US" sz="2000" dirty="0"/>
              <a:t>, </a:t>
            </a:r>
            <a:r>
              <a:rPr lang="en-US" sz="2000" dirty="0" err="1"/>
              <a:t>nie</a:t>
            </a:r>
            <a:r>
              <a:rPr lang="en-US" sz="2000" dirty="0"/>
              <a:t> </a:t>
            </a:r>
            <a:r>
              <a:rPr lang="en-US" sz="2000" dirty="0" err="1"/>
              <a:t>že</a:t>
            </a:r>
            <a:r>
              <a:rPr lang="en-US" sz="2000" dirty="0"/>
              <a:t> </a:t>
            </a:r>
            <a:r>
              <a:rPr lang="en-US" sz="2000" dirty="0" err="1"/>
              <a:t>bol</a:t>
            </a:r>
            <a:r>
              <a:rPr lang="en-US" sz="2000" dirty="0"/>
              <a:t> </a:t>
            </a:r>
            <a:r>
              <a:rPr lang="en-US" sz="2000" dirty="0" err="1"/>
              <a:t>správne</a:t>
            </a:r>
            <a:r>
              <a:rPr lang="en-US" sz="2000" dirty="0"/>
              <a:t> </a:t>
            </a:r>
            <a:r>
              <a:rPr lang="en-US" sz="2000" dirty="0" err="1"/>
              <a:t>otestovaný</a:t>
            </a:r>
            <a:r>
              <a:rPr lang="en-US" sz="2000" dirty="0"/>
              <a:t>.</a:t>
            </a:r>
          </a:p>
          <a:p>
            <a:r>
              <a:rPr lang="en-US" sz="2000" dirty="0"/>
              <a:t>Aj 100 % coverage </a:t>
            </a:r>
            <a:r>
              <a:rPr lang="en-US" sz="2000" dirty="0" err="1"/>
              <a:t>môže</a:t>
            </a:r>
            <a:r>
              <a:rPr lang="en-US" sz="2000" dirty="0"/>
              <a:t> </a:t>
            </a:r>
            <a:r>
              <a:rPr lang="en-US" sz="2000" dirty="0" err="1"/>
              <a:t>stále</a:t>
            </a:r>
            <a:r>
              <a:rPr lang="en-US" sz="2000" dirty="0"/>
              <a:t> </a:t>
            </a:r>
            <a:r>
              <a:rPr lang="en-US" sz="2000" dirty="0" err="1"/>
              <a:t>znamenať</a:t>
            </a:r>
            <a:r>
              <a:rPr lang="en-US" sz="2000" dirty="0"/>
              <a:t> </a:t>
            </a:r>
            <a:r>
              <a:rPr lang="en-US" sz="2000" dirty="0" err="1"/>
              <a:t>slabé</a:t>
            </a:r>
            <a:r>
              <a:rPr lang="en-US" sz="2000" dirty="0"/>
              <a:t> testy a </a:t>
            </a:r>
            <a:r>
              <a:rPr lang="en-US" sz="2000" dirty="0" err="1"/>
              <a:t>neodhalené</a:t>
            </a:r>
            <a:r>
              <a:rPr lang="en-US" sz="2000" dirty="0"/>
              <a:t> edge cases.</a:t>
            </a:r>
          </a:p>
          <a:p>
            <a:r>
              <a:rPr lang="en-US" sz="2000" dirty="0"/>
              <a:t>Preto </a:t>
            </a:r>
            <a:r>
              <a:rPr lang="en-US" sz="2000" dirty="0" err="1"/>
              <a:t>potrebujeme</a:t>
            </a:r>
            <a:r>
              <a:rPr lang="en-US" sz="2000" dirty="0"/>
              <a:t> </a:t>
            </a:r>
            <a:r>
              <a:rPr lang="en-US" sz="2000" dirty="0" err="1"/>
              <a:t>silnejší</a:t>
            </a:r>
            <a:r>
              <a:rPr lang="en-US" sz="2000" dirty="0"/>
              <a:t> </a:t>
            </a:r>
            <a:r>
              <a:rPr lang="en-US" sz="2000" dirty="0" err="1"/>
              <a:t>spôsob</a:t>
            </a:r>
            <a:r>
              <a:rPr lang="en-US" sz="2000" dirty="0"/>
              <a:t> </a:t>
            </a:r>
            <a:r>
              <a:rPr lang="en-US" sz="2000" dirty="0" err="1"/>
              <a:t>hodnotenia</a:t>
            </a:r>
            <a:r>
              <a:rPr lang="en-US" sz="2000" dirty="0"/>
              <a:t> </a:t>
            </a:r>
            <a:r>
              <a:rPr lang="en-US" sz="2000" dirty="0" err="1"/>
              <a:t>kvality</a:t>
            </a:r>
            <a:r>
              <a:rPr lang="en-US" sz="2000" dirty="0"/>
              <a:t> </a:t>
            </a:r>
            <a:r>
              <a:rPr lang="en-US" sz="2000" dirty="0" err="1"/>
              <a:t>testov</a:t>
            </a:r>
            <a:r>
              <a:rPr lang="en-US" sz="2000" dirty="0"/>
              <a:t>.</a:t>
            </a:r>
          </a:p>
        </p:txBody>
      </p:sp>
      <p:pic>
        <p:nvPicPr>
          <p:cNvPr id="1026" name="Picture 2" descr="A Beginner's Guide to Code Coverage | by Osama Haider | Medium">
            <a:extLst>
              <a:ext uri="{FF2B5EF4-FFF2-40B4-BE49-F238E27FC236}">
                <a16:creationId xmlns:a16="http://schemas.microsoft.com/office/drawing/2014/main" id="{26ED8FBE-6433-7183-FC7A-69D5A14FD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19366" y="2293363"/>
            <a:ext cx="4788505" cy="2741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4" name="Freeform: Shape 104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657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582125-019B-6452-FE6A-33759EBE6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774" y="171260"/>
            <a:ext cx="6268021" cy="1642970"/>
          </a:xfrm>
        </p:spPr>
        <p:txBody>
          <a:bodyPr anchor="b">
            <a:normAutofit/>
          </a:bodyPr>
          <a:lstStyle/>
          <a:p>
            <a:r>
              <a:rPr lang="en-US" sz="4000" b="1" dirty="0" err="1"/>
              <a:t>Riešenie</a:t>
            </a:r>
            <a:r>
              <a:rPr lang="en-US" sz="4000" b="1" dirty="0"/>
              <a:t>: Mutation-based testing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157F1-0540-70F3-5978-5EC0F68EC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985490"/>
            <a:ext cx="6644827" cy="4171470"/>
          </a:xfrm>
        </p:spPr>
        <p:txBody>
          <a:bodyPr anchor="t">
            <a:normAutofit lnSpcReduction="10000"/>
          </a:bodyPr>
          <a:lstStyle/>
          <a:p>
            <a:r>
              <a:rPr lang="en-US" sz="2400" dirty="0"/>
              <a:t>Mutation testing </a:t>
            </a:r>
            <a:r>
              <a:rPr lang="en-US" sz="2400" dirty="0" err="1"/>
              <a:t>vytvára</a:t>
            </a:r>
            <a:r>
              <a:rPr lang="en-US" sz="2400" dirty="0"/>
              <a:t> </a:t>
            </a:r>
            <a:r>
              <a:rPr lang="en-US" sz="2400" dirty="0" err="1"/>
              <a:t>malé</a:t>
            </a:r>
            <a:r>
              <a:rPr lang="en-US" sz="2400" dirty="0"/>
              <a:t> </a:t>
            </a:r>
            <a:r>
              <a:rPr lang="en-US" sz="2400" dirty="0" err="1"/>
              <a:t>upravené</a:t>
            </a:r>
            <a:r>
              <a:rPr lang="en-US" sz="2400" dirty="0"/>
              <a:t> </a:t>
            </a:r>
            <a:r>
              <a:rPr lang="en-US" sz="2400" dirty="0" err="1"/>
              <a:t>verzie</a:t>
            </a:r>
            <a:r>
              <a:rPr lang="en-US" sz="2400" dirty="0"/>
              <a:t> </a:t>
            </a:r>
            <a:r>
              <a:rPr lang="en-US" sz="2400" dirty="0" err="1"/>
              <a:t>programu</a:t>
            </a:r>
            <a:r>
              <a:rPr lang="en-US" sz="2400" dirty="0"/>
              <a:t> – </a:t>
            </a:r>
            <a:r>
              <a:rPr lang="en-US" sz="2400" b="1" dirty="0" err="1"/>
              <a:t>mutanty</a:t>
            </a:r>
            <a:r>
              <a:rPr lang="en-US" sz="2400" dirty="0"/>
              <a:t>.</a:t>
            </a:r>
          </a:p>
          <a:p>
            <a:r>
              <a:rPr lang="en-US" sz="2400" dirty="0"/>
              <a:t>Mutant </a:t>
            </a:r>
            <a:r>
              <a:rPr lang="en-US" sz="2400" dirty="0" err="1"/>
              <a:t>predstavuje</a:t>
            </a:r>
            <a:r>
              <a:rPr lang="en-US" sz="2400" dirty="0"/>
              <a:t> </a:t>
            </a:r>
            <a:r>
              <a:rPr lang="en-US" sz="2400" dirty="0" err="1"/>
              <a:t>jednoduchú</a:t>
            </a:r>
            <a:r>
              <a:rPr lang="en-US" sz="2400" dirty="0"/>
              <a:t> </a:t>
            </a:r>
            <a:r>
              <a:rPr lang="en-US" sz="2400" dirty="0" err="1"/>
              <a:t>umelú</a:t>
            </a:r>
            <a:r>
              <a:rPr lang="en-US" sz="2400" dirty="0"/>
              <a:t> </a:t>
            </a:r>
            <a:r>
              <a:rPr lang="en-US" sz="2400" dirty="0" err="1"/>
              <a:t>chybu</a:t>
            </a:r>
            <a:r>
              <a:rPr lang="en-US" sz="2400" dirty="0"/>
              <a:t> v </a:t>
            </a:r>
            <a:r>
              <a:rPr lang="en-US" sz="2400" dirty="0" err="1"/>
              <a:t>kóde</a:t>
            </a:r>
            <a:r>
              <a:rPr lang="en-US" sz="2400" dirty="0"/>
              <a:t>.</a:t>
            </a:r>
          </a:p>
          <a:p>
            <a:r>
              <a:rPr lang="en-US" sz="2400" dirty="0"/>
              <a:t>Testy </a:t>
            </a:r>
            <a:r>
              <a:rPr lang="en-US" sz="2400" dirty="0" err="1"/>
              <a:t>sa</a:t>
            </a:r>
            <a:r>
              <a:rPr lang="en-US" sz="2400" dirty="0"/>
              <a:t> </a:t>
            </a:r>
            <a:r>
              <a:rPr lang="en-US" sz="2400" dirty="0" err="1"/>
              <a:t>spustia</a:t>
            </a:r>
            <a:r>
              <a:rPr lang="en-US" sz="2400" dirty="0"/>
              <a:t> </a:t>
            </a:r>
            <a:r>
              <a:rPr lang="en-US" sz="2400" dirty="0" err="1"/>
              <a:t>proti</a:t>
            </a:r>
            <a:r>
              <a:rPr lang="en-US" sz="2400" dirty="0"/>
              <a:t> </a:t>
            </a:r>
            <a:r>
              <a:rPr lang="en-US" sz="2400" dirty="0" err="1"/>
              <a:t>proti</a:t>
            </a:r>
            <a:r>
              <a:rPr lang="en-US" sz="2400" dirty="0"/>
              <a:t> </a:t>
            </a:r>
            <a:r>
              <a:rPr lang="en-US" sz="2400" dirty="0" err="1"/>
              <a:t>mutantovi</a:t>
            </a:r>
            <a:r>
              <a:rPr lang="en-US" sz="2400" dirty="0"/>
              <a:t>.</a:t>
            </a:r>
          </a:p>
          <a:p>
            <a:r>
              <a:rPr lang="en-US" sz="2400" dirty="0"/>
              <a:t>Ak test </a:t>
            </a:r>
            <a:r>
              <a:rPr lang="en-US" sz="2400" dirty="0" err="1"/>
              <a:t>zlyhá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mutantovi</a:t>
            </a:r>
            <a:r>
              <a:rPr lang="en-US" sz="2400" dirty="0"/>
              <a:t>, mutant je </a:t>
            </a:r>
            <a:r>
              <a:rPr lang="en-US" sz="2400" b="1" dirty="0"/>
              <a:t>killed</a:t>
            </a:r>
            <a:r>
              <a:rPr lang="en-US" sz="2400" dirty="0"/>
              <a:t>.</a:t>
            </a:r>
          </a:p>
          <a:p>
            <a:r>
              <a:rPr lang="en-US" sz="2400" dirty="0"/>
              <a:t>Ak test </a:t>
            </a:r>
            <a:r>
              <a:rPr lang="en-US" sz="2400" dirty="0" err="1"/>
              <a:t>stále</a:t>
            </a:r>
            <a:r>
              <a:rPr lang="en-US" sz="2400" dirty="0"/>
              <a:t> </a:t>
            </a:r>
            <a:r>
              <a:rPr lang="en-US" sz="2400" dirty="0" err="1"/>
              <a:t>prejde</a:t>
            </a:r>
            <a:r>
              <a:rPr lang="en-US" sz="2400" dirty="0"/>
              <a:t>, mutant </a:t>
            </a:r>
            <a:r>
              <a:rPr lang="en-US" sz="2400" b="1" dirty="0"/>
              <a:t>survived</a:t>
            </a:r>
            <a:r>
              <a:rPr lang="en-US" sz="2400" dirty="0"/>
              <a:t> - testy </a:t>
            </a:r>
            <a:r>
              <a:rPr lang="en-US" sz="2400" dirty="0" err="1"/>
              <a:t>pravdepodobne</a:t>
            </a:r>
            <a:r>
              <a:rPr lang="en-US" sz="2400" dirty="0"/>
              <a:t> </a:t>
            </a:r>
            <a:r>
              <a:rPr lang="en-US" sz="2400" dirty="0" err="1"/>
              <a:t>nepokrývajú</a:t>
            </a:r>
            <a:r>
              <a:rPr lang="en-US" sz="2400" dirty="0"/>
              <a:t> </a:t>
            </a:r>
            <a:r>
              <a:rPr lang="en-US" sz="2400" dirty="0" err="1"/>
              <a:t>daný</a:t>
            </a:r>
            <a:r>
              <a:rPr lang="en-US" sz="2400" dirty="0"/>
              <a:t> </a:t>
            </a:r>
            <a:r>
              <a:rPr lang="en-US" sz="2400" dirty="0" err="1"/>
              <a:t>prípad</a:t>
            </a:r>
            <a:r>
              <a:rPr lang="en-US" sz="2400" dirty="0"/>
              <a:t> </a:t>
            </a:r>
            <a:r>
              <a:rPr lang="en-US" sz="2400" dirty="0" err="1"/>
              <a:t>dostatočne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Výsledkom</a:t>
            </a:r>
            <a:r>
              <a:rPr lang="en-US" sz="2400" dirty="0"/>
              <a:t> je </a:t>
            </a:r>
            <a:r>
              <a:rPr lang="en-US" sz="2400" b="1" dirty="0"/>
              <a:t>mutation score</a:t>
            </a:r>
            <a:r>
              <a:rPr lang="en-US" sz="2400" dirty="0"/>
              <a:t> - </a:t>
            </a:r>
            <a:r>
              <a:rPr lang="en-US" sz="2400" dirty="0" err="1"/>
              <a:t>pomer</a:t>
            </a:r>
            <a:r>
              <a:rPr lang="en-US" sz="2400" dirty="0"/>
              <a:t> </a:t>
            </a:r>
            <a:r>
              <a:rPr lang="en-US" sz="2400" dirty="0" err="1"/>
              <a:t>zabitých</a:t>
            </a:r>
            <a:r>
              <a:rPr lang="en-US" sz="2400" dirty="0"/>
              <a:t> </a:t>
            </a:r>
            <a:r>
              <a:rPr lang="en-US" sz="2400" dirty="0" err="1"/>
              <a:t>mutantov</a:t>
            </a:r>
            <a:r>
              <a:rPr lang="en-US" sz="2400" dirty="0"/>
              <a:t> </a:t>
            </a:r>
            <a:r>
              <a:rPr lang="en-US" sz="2400" dirty="0" err="1"/>
              <a:t>voči</a:t>
            </a:r>
            <a:r>
              <a:rPr lang="en-US" sz="2400" dirty="0"/>
              <a:t> </a:t>
            </a:r>
            <a:r>
              <a:rPr lang="en-US" sz="2400" dirty="0" err="1"/>
              <a:t>všetkým</a:t>
            </a:r>
            <a:r>
              <a:rPr lang="en-US" sz="2400" dirty="0"/>
              <a:t> </a:t>
            </a:r>
            <a:r>
              <a:rPr lang="en-US" sz="2400" dirty="0" err="1"/>
              <a:t>relevantným</a:t>
            </a:r>
            <a:r>
              <a:rPr lang="en-US" sz="2400" dirty="0"/>
              <a:t> </a:t>
            </a:r>
            <a:r>
              <a:rPr lang="en-US" sz="2400" dirty="0" err="1"/>
              <a:t>mutantom</a:t>
            </a:r>
            <a:r>
              <a:rPr lang="en-US" sz="2400" dirty="0"/>
              <a:t>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593D7E-A5AE-0A54-6D89-97D01B985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5133" y="1814230"/>
            <a:ext cx="3666093" cy="324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521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CD184C-1DCC-5B70-3840-F99388328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125" y="278535"/>
            <a:ext cx="10608525" cy="1033669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Ak je mutation testing </a:t>
            </a:r>
            <a:r>
              <a:rPr lang="en-US" sz="4000" dirty="0" err="1">
                <a:solidFill>
                  <a:schemeClr val="bg1"/>
                </a:solidFill>
              </a:rPr>
              <a:t>taký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dobrý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dirty="0" err="1">
                <a:solidFill>
                  <a:schemeClr val="bg1"/>
                </a:solidFill>
              </a:rPr>
              <a:t>prečo</a:t>
            </a:r>
            <a:r>
              <a:rPr lang="en-US" sz="4000" dirty="0">
                <a:solidFill>
                  <a:schemeClr val="bg1"/>
                </a:solidFill>
              </a:rPr>
              <a:t> ho </a:t>
            </a:r>
            <a:r>
              <a:rPr lang="en-US" sz="4000" dirty="0" err="1">
                <a:solidFill>
                  <a:schemeClr val="bg1"/>
                </a:solidFill>
              </a:rPr>
              <a:t>nepoužívame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všade</a:t>
            </a:r>
            <a:r>
              <a:rPr lang="en-US" sz="4000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59245-9217-7FEE-1CCD-7DE3145BE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4125" y="2379346"/>
            <a:ext cx="9976501" cy="3683358"/>
          </a:xfrm>
        </p:spPr>
        <p:txBody>
          <a:bodyPr anchor="ctr">
            <a:normAutofit/>
          </a:bodyPr>
          <a:lstStyle/>
          <a:p>
            <a:r>
              <a:rPr lang="en-US" sz="2400" dirty="0"/>
              <a:t>Mutation testing je </a:t>
            </a:r>
            <a:r>
              <a:rPr lang="en-US" sz="2400" dirty="0" err="1"/>
              <a:t>silná</a:t>
            </a:r>
            <a:r>
              <a:rPr lang="en-US" sz="2400" dirty="0"/>
              <a:t> </a:t>
            </a:r>
            <a:r>
              <a:rPr lang="en-US" sz="2400" dirty="0" err="1"/>
              <a:t>technika</a:t>
            </a:r>
            <a:r>
              <a:rPr lang="en-US" sz="2400" dirty="0"/>
              <a:t>, ale v </a:t>
            </a:r>
            <a:r>
              <a:rPr lang="en-US" sz="2400" dirty="0" err="1"/>
              <a:t>praxi</a:t>
            </a:r>
            <a:r>
              <a:rPr lang="en-US" sz="2400" dirty="0"/>
              <a:t> </a:t>
            </a:r>
            <a:r>
              <a:rPr lang="en-US" sz="2400" dirty="0" err="1"/>
              <a:t>má</a:t>
            </a:r>
            <a:r>
              <a:rPr lang="en-US" sz="2400" dirty="0"/>
              <a:t> </a:t>
            </a:r>
            <a:r>
              <a:rPr lang="en-US" sz="2400" dirty="0" err="1"/>
              <a:t>vysokú</a:t>
            </a:r>
            <a:r>
              <a:rPr lang="en-US" sz="2400" dirty="0"/>
              <a:t> </a:t>
            </a:r>
            <a:r>
              <a:rPr lang="en-US" sz="2400" dirty="0" err="1"/>
              <a:t>cenu</a:t>
            </a:r>
            <a:r>
              <a:rPr lang="en-US" sz="2400" dirty="0"/>
              <a:t>.</a:t>
            </a:r>
          </a:p>
          <a:p>
            <a:r>
              <a:rPr lang="en-US" sz="2400" dirty="0"/>
              <a:t>Na </a:t>
            </a:r>
            <a:r>
              <a:rPr lang="en-US" sz="2400" dirty="0" err="1"/>
              <a:t>väčších</a:t>
            </a:r>
            <a:r>
              <a:rPr lang="en-US" sz="2400" dirty="0"/>
              <a:t> </a:t>
            </a:r>
            <a:r>
              <a:rPr lang="en-US" sz="2400" dirty="0" err="1"/>
              <a:t>projektoch</a:t>
            </a:r>
            <a:r>
              <a:rPr lang="en-US" sz="2400" dirty="0"/>
              <a:t> vie </a:t>
            </a:r>
            <a:r>
              <a:rPr lang="en-US" sz="2400" dirty="0" err="1"/>
              <a:t>vytvoriť</a:t>
            </a:r>
            <a:r>
              <a:rPr lang="en-US" sz="2400" dirty="0"/>
              <a:t> </a:t>
            </a:r>
            <a:r>
              <a:rPr lang="en-US" sz="2400" dirty="0" err="1"/>
              <a:t>tisíce</a:t>
            </a:r>
            <a:r>
              <a:rPr lang="en-US" sz="2400" dirty="0"/>
              <a:t> </a:t>
            </a:r>
            <a:r>
              <a:rPr lang="en-US" sz="2400" dirty="0" err="1"/>
              <a:t>až</a:t>
            </a:r>
            <a:r>
              <a:rPr lang="en-US" sz="2400" dirty="0"/>
              <a:t> </a:t>
            </a:r>
            <a:r>
              <a:rPr lang="en-US" sz="2400" dirty="0" err="1"/>
              <a:t>desaťtisíce</a:t>
            </a:r>
            <a:r>
              <a:rPr lang="en-US" sz="2400" dirty="0"/>
              <a:t> </a:t>
            </a:r>
            <a:r>
              <a:rPr lang="en-US" sz="2400" dirty="0" err="1"/>
              <a:t>mutantov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Každý</a:t>
            </a:r>
            <a:r>
              <a:rPr lang="en-US" sz="2400" dirty="0"/>
              <a:t> mutant </a:t>
            </a:r>
            <a:r>
              <a:rPr lang="en-US" sz="2400" dirty="0" err="1"/>
              <a:t>znamená</a:t>
            </a:r>
            <a:r>
              <a:rPr lang="en-US" sz="2400" dirty="0"/>
              <a:t> </a:t>
            </a:r>
            <a:r>
              <a:rPr lang="en-US" sz="2400" dirty="0" err="1"/>
              <a:t>ďalší</a:t>
            </a:r>
            <a:r>
              <a:rPr lang="en-US" sz="2400" dirty="0"/>
              <a:t> </a:t>
            </a:r>
            <a:r>
              <a:rPr lang="en-US" sz="2400" dirty="0" err="1"/>
              <a:t>beh</a:t>
            </a:r>
            <a:r>
              <a:rPr lang="en-US" sz="2400" dirty="0"/>
              <a:t> </a:t>
            </a:r>
            <a:r>
              <a:rPr lang="en-US" sz="2400" dirty="0" err="1"/>
              <a:t>testov</a:t>
            </a:r>
            <a:r>
              <a:rPr lang="en-US" sz="2400" dirty="0"/>
              <a:t> </a:t>
            </a:r>
            <a:r>
              <a:rPr lang="en-US" sz="2400" dirty="0" err="1"/>
              <a:t>alebo</a:t>
            </a:r>
            <a:r>
              <a:rPr lang="en-US" sz="2400" dirty="0"/>
              <a:t> </a:t>
            </a:r>
            <a:r>
              <a:rPr lang="en-US" sz="2400" dirty="0" err="1"/>
              <a:t>aspoň</a:t>
            </a:r>
            <a:r>
              <a:rPr lang="en-US" sz="2400" dirty="0"/>
              <a:t> </a:t>
            </a:r>
            <a:r>
              <a:rPr lang="en-US" sz="2400" dirty="0" err="1"/>
              <a:t>časť</a:t>
            </a:r>
            <a:r>
              <a:rPr lang="en-US" sz="2400" dirty="0"/>
              <a:t> test suite.</a:t>
            </a:r>
          </a:p>
          <a:p>
            <a:r>
              <a:rPr lang="en-US" sz="2400" dirty="0" err="1"/>
              <a:t>Výsledok</a:t>
            </a:r>
            <a:r>
              <a:rPr lang="en-US" sz="2400" dirty="0"/>
              <a:t>: </a:t>
            </a:r>
            <a:r>
              <a:rPr lang="en-US" sz="2400" dirty="0" err="1"/>
              <a:t>beh</a:t>
            </a:r>
            <a:r>
              <a:rPr lang="en-US" sz="2400" dirty="0"/>
              <a:t> </a:t>
            </a:r>
            <a:r>
              <a:rPr lang="en-US" sz="2400" dirty="0" err="1"/>
              <a:t>môže</a:t>
            </a:r>
            <a:r>
              <a:rPr lang="en-US" sz="2400" dirty="0"/>
              <a:t> </a:t>
            </a:r>
            <a:r>
              <a:rPr lang="en-US" sz="2400" dirty="0" err="1"/>
              <a:t>trvať</a:t>
            </a:r>
            <a:r>
              <a:rPr lang="en-US" sz="2400" dirty="0"/>
              <a:t> </a:t>
            </a:r>
            <a:r>
              <a:rPr lang="en-US" sz="2400" dirty="0" err="1"/>
              <a:t>minúty</a:t>
            </a:r>
            <a:r>
              <a:rPr lang="en-US" sz="2400" dirty="0"/>
              <a:t> </a:t>
            </a:r>
            <a:r>
              <a:rPr lang="en-US" sz="2400" dirty="0" err="1"/>
              <a:t>až</a:t>
            </a:r>
            <a:r>
              <a:rPr lang="en-US" sz="2400" dirty="0"/>
              <a:t> </a:t>
            </a:r>
            <a:r>
              <a:rPr lang="en-US" sz="2400" dirty="0" err="1"/>
              <a:t>hodiny</a:t>
            </a:r>
            <a:r>
              <a:rPr lang="en-US" sz="2400" dirty="0"/>
              <a:t> </a:t>
            </a:r>
            <a:r>
              <a:rPr lang="en-US" sz="2400" dirty="0" err="1"/>
              <a:t>namiesto</a:t>
            </a:r>
            <a:r>
              <a:rPr lang="en-US" sz="2400" dirty="0"/>
              <a:t> </a:t>
            </a:r>
            <a:r>
              <a:rPr lang="en-US" sz="2400" dirty="0" err="1"/>
              <a:t>sekúnd</a:t>
            </a:r>
            <a:r>
              <a:rPr lang="en-US" sz="2400" dirty="0"/>
              <a:t>.</a:t>
            </a:r>
          </a:p>
          <a:p>
            <a:r>
              <a:rPr lang="pl-PL" sz="2400" dirty="0"/>
              <a:t>Výber vhodného frameworku nie je jednoduchý.</a:t>
            </a:r>
            <a:endParaRPr lang="en-US" sz="2400" dirty="0"/>
          </a:p>
          <a:p>
            <a:r>
              <a:rPr lang="en-US" sz="2400" dirty="0" err="1"/>
              <a:t>Množstvo</a:t>
            </a:r>
            <a:r>
              <a:rPr lang="en-US" sz="2400" dirty="0"/>
              <a:t> </a:t>
            </a:r>
            <a:r>
              <a:rPr lang="en-US" sz="2400" dirty="0" err="1"/>
              <a:t>menej</a:t>
            </a:r>
            <a:r>
              <a:rPr lang="en-US" sz="2400" dirty="0"/>
              <a:t>, </a:t>
            </a:r>
            <a:r>
              <a:rPr lang="en-US" sz="2400" dirty="0" err="1"/>
              <a:t>napr</a:t>
            </a:r>
            <a:r>
              <a:rPr lang="en-US" sz="2400" dirty="0"/>
              <a:t>. skipped </a:t>
            </a:r>
            <a:r>
              <a:rPr lang="en-US" sz="2400" dirty="0" err="1"/>
              <a:t>alebo</a:t>
            </a:r>
            <a:r>
              <a:rPr lang="en-US" sz="2400" dirty="0"/>
              <a:t> irrelevant </a:t>
            </a:r>
            <a:r>
              <a:rPr lang="en-US" sz="2400" dirty="0" err="1"/>
              <a:t>mutantov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1951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24608B-00D7-C523-13A2-C269A9C22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8657E-F674-C61C-8618-294323A3E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FF3D2F-A0A9-5192-1438-4126AE508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0864BE-AB6C-39B2-2A53-8D8AD370B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8458F9-60BC-D680-0489-2AD101041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81A2F4-B87F-AEE6-4110-FA2D9CCD7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CFCF26-6AA7-4055-A2F0-8E186382A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968"/>
            <a:ext cx="10608525" cy="1033669"/>
          </a:xfrm>
        </p:spPr>
        <p:txBody>
          <a:bodyPr>
            <a:no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Možnosti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riešenia</a:t>
            </a:r>
            <a:r>
              <a:rPr lang="en-US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30EAF12-F27A-6635-B4BC-82F12E172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726188"/>
            <a:ext cx="10515600" cy="16474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/>
              <a:t>Zlepšenie</a:t>
            </a:r>
            <a:r>
              <a:rPr lang="en-US" sz="2400" b="1" dirty="0"/>
              <a:t> mutation testing </a:t>
            </a:r>
            <a:r>
              <a:rPr lang="en-US" sz="2400" b="1" dirty="0" err="1"/>
              <a:t>nástrojov</a:t>
            </a:r>
            <a:endParaRPr lang="en-US" sz="2400" b="1" dirty="0"/>
          </a:p>
          <a:p>
            <a:r>
              <a:rPr lang="en-US" sz="2400" dirty="0" err="1"/>
              <a:t>jednoduchší</a:t>
            </a:r>
            <a:r>
              <a:rPr lang="en-US" sz="2400" dirty="0"/>
              <a:t> setup, </a:t>
            </a:r>
            <a:r>
              <a:rPr lang="en-US" sz="2400" dirty="0" err="1"/>
              <a:t>konfigurácia</a:t>
            </a:r>
            <a:r>
              <a:rPr lang="en-US" sz="2400" dirty="0"/>
              <a:t> a </a:t>
            </a:r>
            <a:r>
              <a:rPr lang="en-US" sz="2400" dirty="0" err="1"/>
              <a:t>reporty</a:t>
            </a:r>
            <a:r>
              <a:rPr lang="en-US" sz="2400" dirty="0"/>
              <a:t>,</a:t>
            </a:r>
          </a:p>
          <a:p>
            <a:r>
              <a:rPr lang="en-US" sz="2400" dirty="0" err="1"/>
              <a:t>menej</a:t>
            </a:r>
            <a:r>
              <a:rPr lang="en-US" sz="2400" dirty="0"/>
              <a:t> </a:t>
            </a:r>
            <a:r>
              <a:rPr lang="en-US" sz="2400" dirty="0" err="1"/>
              <a:t>šumu</a:t>
            </a:r>
            <a:r>
              <a:rPr lang="en-US" sz="2400" dirty="0"/>
              <a:t> </a:t>
            </a:r>
            <a:r>
              <a:rPr lang="en-US" sz="2400" dirty="0" err="1"/>
              <a:t>vo</a:t>
            </a:r>
            <a:r>
              <a:rPr lang="en-US" sz="2400" dirty="0"/>
              <a:t> </a:t>
            </a:r>
            <a:r>
              <a:rPr lang="en-US" sz="2400" dirty="0" err="1"/>
              <a:t>výsledkoch</a:t>
            </a:r>
            <a:r>
              <a:rPr lang="en-US" sz="2400" dirty="0"/>
              <a:t>, </a:t>
            </a:r>
            <a:r>
              <a:rPr lang="en-US" sz="2400" dirty="0" err="1"/>
              <a:t>napr</a:t>
            </a:r>
            <a:r>
              <a:rPr lang="en-US" sz="2400" dirty="0"/>
              <a:t>. skipped / </a:t>
            </a:r>
            <a:r>
              <a:rPr lang="en-US" sz="2400" dirty="0" err="1"/>
              <a:t>nerelevantné</a:t>
            </a:r>
            <a:r>
              <a:rPr lang="en-US" sz="2400" dirty="0"/>
              <a:t> </a:t>
            </a:r>
            <a:r>
              <a:rPr lang="en-US" sz="2400" dirty="0" err="1"/>
              <a:t>mutanty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2CA83AF-11C1-43F5-00B8-EB2DF4ED4525}"/>
              </a:ext>
            </a:extLst>
          </p:cNvPr>
          <p:cNvSpPr txBox="1">
            <a:spLocks/>
          </p:cNvSpPr>
          <p:nvPr/>
        </p:nvSpPr>
        <p:spPr>
          <a:xfrm>
            <a:off x="838198" y="3235179"/>
            <a:ext cx="10515600" cy="16474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Targeted mutation testing</a:t>
            </a:r>
          </a:p>
          <a:p>
            <a:r>
              <a:rPr lang="en-US" sz="2400" dirty="0" err="1"/>
              <a:t>mutovať</a:t>
            </a:r>
            <a:r>
              <a:rPr lang="en-US" sz="2400" dirty="0"/>
              <a:t> </a:t>
            </a:r>
            <a:r>
              <a:rPr lang="en-US" sz="2400" dirty="0" err="1"/>
              <a:t>iba</a:t>
            </a:r>
            <a:r>
              <a:rPr lang="en-US" sz="2400" dirty="0"/>
              <a:t> </a:t>
            </a:r>
            <a:r>
              <a:rPr lang="en-US" sz="2400" dirty="0" err="1"/>
              <a:t>konkrétne</a:t>
            </a:r>
            <a:r>
              <a:rPr lang="en-US" sz="2400" dirty="0"/>
              <a:t> </a:t>
            </a:r>
            <a:r>
              <a:rPr lang="en-US" sz="2400" dirty="0" err="1"/>
              <a:t>súbory</a:t>
            </a:r>
            <a:r>
              <a:rPr lang="en-US" sz="2400" dirty="0"/>
              <a:t> </a:t>
            </a:r>
            <a:r>
              <a:rPr lang="en-US" sz="2400" dirty="0" err="1"/>
              <a:t>alebo</a:t>
            </a:r>
            <a:r>
              <a:rPr lang="en-US" sz="2400" dirty="0"/>
              <a:t> </a:t>
            </a:r>
            <a:r>
              <a:rPr lang="en-US" sz="2400" dirty="0" err="1"/>
              <a:t>riadky</a:t>
            </a:r>
            <a:r>
              <a:rPr lang="en-US" sz="2400" dirty="0"/>
              <a:t>,</a:t>
            </a:r>
          </a:p>
          <a:p>
            <a:r>
              <a:rPr lang="en-US" sz="2400" dirty="0" err="1"/>
              <a:t>vhodné</a:t>
            </a:r>
            <a:r>
              <a:rPr lang="en-US" sz="2400" dirty="0"/>
              <a:t> </a:t>
            </a:r>
            <a:r>
              <a:rPr lang="en-US" sz="2400" dirty="0" err="1"/>
              <a:t>hlavne</a:t>
            </a:r>
            <a:r>
              <a:rPr lang="en-US" sz="2400" dirty="0"/>
              <a:t> po </a:t>
            </a:r>
            <a:r>
              <a:rPr lang="en-US" sz="2400" dirty="0" err="1"/>
              <a:t>refactoringu</a:t>
            </a:r>
            <a:r>
              <a:rPr lang="en-US" sz="2400" dirty="0"/>
              <a:t> </a:t>
            </a:r>
            <a:r>
              <a:rPr lang="en-US" sz="2400" dirty="0" err="1"/>
              <a:t>alebo</a:t>
            </a:r>
            <a:r>
              <a:rPr lang="en-US" sz="2400" dirty="0"/>
              <a:t> </a:t>
            </a:r>
            <a:r>
              <a:rPr lang="en-US" sz="2400" dirty="0" err="1"/>
              <a:t>pri</a:t>
            </a:r>
            <a:r>
              <a:rPr lang="en-US" sz="2400" dirty="0"/>
              <a:t> </a:t>
            </a:r>
            <a:r>
              <a:rPr lang="en-US" sz="2400" dirty="0" err="1"/>
              <a:t>kontrole</a:t>
            </a:r>
            <a:r>
              <a:rPr lang="en-US" sz="2400" dirty="0"/>
              <a:t> </a:t>
            </a:r>
            <a:r>
              <a:rPr lang="en-US" sz="2400" dirty="0" err="1"/>
              <a:t>nedávno</a:t>
            </a:r>
            <a:r>
              <a:rPr lang="en-US" sz="2400" dirty="0"/>
              <a:t> </a:t>
            </a:r>
            <a:r>
              <a:rPr lang="en-US" sz="2400" dirty="0" err="1"/>
              <a:t>zmeneného</a:t>
            </a:r>
            <a:r>
              <a:rPr lang="en-US" sz="2400" dirty="0"/>
              <a:t> </a:t>
            </a:r>
            <a:r>
              <a:rPr lang="en-US" sz="2400" dirty="0" err="1"/>
              <a:t>kódu</a:t>
            </a:r>
            <a:r>
              <a:rPr lang="en-US" sz="2400" dirty="0"/>
              <a:t>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CF97EBF-6D3D-53E4-4D23-1768AFD3E57B}"/>
              </a:ext>
            </a:extLst>
          </p:cNvPr>
          <p:cNvSpPr txBox="1">
            <a:spLocks/>
          </p:cNvSpPr>
          <p:nvPr/>
        </p:nvSpPr>
        <p:spPr>
          <a:xfrm>
            <a:off x="838198" y="4882596"/>
            <a:ext cx="10515600" cy="197540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 err="1"/>
              <a:t>Využitie</a:t>
            </a:r>
            <a:r>
              <a:rPr lang="en-US" sz="2400" b="1" dirty="0"/>
              <a:t> LLM</a:t>
            </a:r>
          </a:p>
          <a:p>
            <a:r>
              <a:rPr lang="en-US" sz="2400" dirty="0"/>
              <a:t>vie </a:t>
            </a:r>
            <a:r>
              <a:rPr lang="en-US" sz="2400" dirty="0" err="1"/>
              <a:t>pripraviť</a:t>
            </a:r>
            <a:r>
              <a:rPr lang="en-US" sz="2400" dirty="0"/>
              <a:t> </a:t>
            </a:r>
            <a:r>
              <a:rPr lang="en-US" sz="2400" dirty="0" err="1"/>
              <a:t>konfiguráciu</a:t>
            </a:r>
            <a:r>
              <a:rPr lang="en-US" sz="2400" dirty="0"/>
              <a:t>, </a:t>
            </a:r>
            <a:r>
              <a:rPr lang="en-US" sz="2400" dirty="0" err="1"/>
              <a:t>vybrať</a:t>
            </a:r>
            <a:r>
              <a:rPr lang="en-US" sz="2400" dirty="0"/>
              <a:t> </a:t>
            </a:r>
            <a:r>
              <a:rPr lang="en-US" sz="2400" dirty="0" err="1"/>
              <a:t>súbory</a:t>
            </a:r>
            <a:r>
              <a:rPr lang="en-US" sz="2400" dirty="0"/>
              <a:t>/</a:t>
            </a:r>
            <a:r>
              <a:rPr lang="en-US" sz="2400" dirty="0" err="1"/>
              <a:t>riadky</a:t>
            </a:r>
            <a:r>
              <a:rPr lang="en-US" sz="2400" dirty="0"/>
              <a:t>/testy a </a:t>
            </a:r>
            <a:r>
              <a:rPr lang="en-US" sz="2400" dirty="0" err="1"/>
              <a:t>spustiť</a:t>
            </a:r>
            <a:r>
              <a:rPr lang="en-US" sz="2400" dirty="0"/>
              <a:t> </a:t>
            </a:r>
            <a:r>
              <a:rPr lang="en-US" sz="2400" dirty="0" err="1"/>
              <a:t>príkazy</a:t>
            </a:r>
            <a:r>
              <a:rPr lang="en-US" sz="2400" dirty="0"/>
              <a:t> bez toho, aby </a:t>
            </a:r>
            <a:r>
              <a:rPr lang="en-US" sz="2400" dirty="0" err="1"/>
              <a:t>používateľ</a:t>
            </a:r>
            <a:r>
              <a:rPr lang="en-US" sz="2400" dirty="0"/>
              <a:t> </a:t>
            </a:r>
            <a:r>
              <a:rPr lang="en-US" sz="2400" dirty="0" err="1"/>
              <a:t>poznal</a:t>
            </a:r>
            <a:r>
              <a:rPr lang="en-US" sz="2400" dirty="0"/>
              <a:t> </a:t>
            </a:r>
            <a:r>
              <a:rPr lang="en-US" sz="2400" dirty="0" err="1"/>
              <a:t>detaily</a:t>
            </a:r>
            <a:r>
              <a:rPr lang="en-US" sz="2400" dirty="0"/>
              <a:t> </a:t>
            </a:r>
            <a:r>
              <a:rPr lang="en-US" sz="2400" dirty="0" err="1"/>
              <a:t>frameworku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navrhovať</a:t>
            </a:r>
            <a:r>
              <a:rPr lang="en-US" sz="2400" dirty="0"/>
              <a:t> </a:t>
            </a:r>
            <a:r>
              <a:rPr lang="en-US" sz="2400" dirty="0" err="1"/>
              <a:t>vlastné</a:t>
            </a:r>
            <a:r>
              <a:rPr lang="en-US" sz="2400" dirty="0"/>
              <a:t> </a:t>
            </a:r>
            <a:r>
              <a:rPr lang="en-US" sz="2400" dirty="0" err="1"/>
              <a:t>mutácie</a:t>
            </a:r>
            <a:r>
              <a:rPr lang="en-US" sz="2400" dirty="0"/>
              <a:t>, </a:t>
            </a:r>
            <a:r>
              <a:rPr lang="en-US" sz="2400" dirty="0" err="1"/>
              <a:t>vyhodnocovať</a:t>
            </a:r>
            <a:r>
              <a:rPr lang="en-US" sz="2400" dirty="0"/>
              <a:t> survived </a:t>
            </a:r>
            <a:r>
              <a:rPr lang="en-US" sz="2400" dirty="0" err="1"/>
              <a:t>mutanty</a:t>
            </a:r>
            <a:r>
              <a:rPr lang="en-US" sz="2400" dirty="0"/>
              <a:t> a </a:t>
            </a:r>
            <a:r>
              <a:rPr lang="en-US" sz="2400" dirty="0" err="1"/>
              <a:t>generovať</a:t>
            </a:r>
            <a:r>
              <a:rPr lang="en-US" sz="2400" dirty="0"/>
              <a:t> </a:t>
            </a:r>
            <a:r>
              <a:rPr lang="en-US" sz="2400" dirty="0" err="1"/>
              <a:t>nové</a:t>
            </a:r>
            <a:r>
              <a:rPr lang="en-US" sz="2400" dirty="0"/>
              <a:t> testy, </a:t>
            </a:r>
            <a:r>
              <a:rPr lang="en-US" sz="2400" dirty="0" err="1"/>
              <a:t>ktoré</a:t>
            </a:r>
            <a:r>
              <a:rPr lang="en-US" sz="2400" dirty="0"/>
              <a:t> ich </a:t>
            </a:r>
            <a:r>
              <a:rPr lang="en-US" sz="2400" dirty="0" err="1"/>
              <a:t>zabijú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4853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E09B3B-7C0F-12BD-1D73-5E5564D8798C}"/>
              </a:ext>
            </a:extLst>
          </p:cNvPr>
          <p:cNvGraphicFramePr>
            <a:graphicFrameLocks noGrp="1"/>
          </p:cNvGraphicFramePr>
          <p:nvPr/>
        </p:nvGraphicFramePr>
        <p:xfrm>
          <a:off x="333375" y="1027450"/>
          <a:ext cx="7435849" cy="4595034"/>
        </p:xfrm>
        <a:graphic>
          <a:graphicData uri="http://schemas.openxmlformats.org/drawingml/2006/table">
            <a:tbl>
              <a:tblPr/>
              <a:tblGrid>
                <a:gridCol w="528866">
                  <a:extLst>
                    <a:ext uri="{9D8B030D-6E8A-4147-A177-3AD203B41FA5}">
                      <a16:colId xmlns:a16="http://schemas.microsoft.com/office/drawing/2014/main" val="3906370176"/>
                    </a:ext>
                  </a:extLst>
                </a:gridCol>
                <a:gridCol w="1047153">
                  <a:extLst>
                    <a:ext uri="{9D8B030D-6E8A-4147-A177-3AD203B41FA5}">
                      <a16:colId xmlns:a16="http://schemas.microsoft.com/office/drawing/2014/main" val="626165838"/>
                    </a:ext>
                  </a:extLst>
                </a:gridCol>
                <a:gridCol w="1306298">
                  <a:extLst>
                    <a:ext uri="{9D8B030D-6E8A-4147-A177-3AD203B41FA5}">
                      <a16:colId xmlns:a16="http://schemas.microsoft.com/office/drawing/2014/main" val="264139293"/>
                    </a:ext>
                  </a:extLst>
                </a:gridCol>
                <a:gridCol w="1618329">
                  <a:extLst>
                    <a:ext uri="{9D8B030D-6E8A-4147-A177-3AD203B41FA5}">
                      <a16:colId xmlns:a16="http://schemas.microsoft.com/office/drawing/2014/main" val="586770116"/>
                    </a:ext>
                  </a:extLst>
                </a:gridCol>
                <a:gridCol w="1131771">
                  <a:extLst>
                    <a:ext uri="{9D8B030D-6E8A-4147-A177-3AD203B41FA5}">
                      <a16:colId xmlns:a16="http://schemas.microsoft.com/office/drawing/2014/main" val="1198848586"/>
                    </a:ext>
                  </a:extLst>
                </a:gridCol>
                <a:gridCol w="867340">
                  <a:extLst>
                    <a:ext uri="{9D8B030D-6E8A-4147-A177-3AD203B41FA5}">
                      <a16:colId xmlns:a16="http://schemas.microsoft.com/office/drawing/2014/main" val="1426150633"/>
                    </a:ext>
                  </a:extLst>
                </a:gridCol>
                <a:gridCol w="936092">
                  <a:extLst>
                    <a:ext uri="{9D8B030D-6E8A-4147-A177-3AD203B41FA5}">
                      <a16:colId xmlns:a16="http://schemas.microsoft.com/office/drawing/2014/main" val="1415219249"/>
                    </a:ext>
                  </a:extLst>
                </a:gridCol>
              </a:tblGrid>
              <a:tr h="31639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400" dirty="0">
                        <a:effectLst/>
                      </a:endParaRP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Programming Language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Language version requirements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dirty="0">
                          <a:effectLst/>
                        </a:rPr>
                        <a:t>Last Update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OS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Test Runners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dirty="0">
                          <a:effectLst/>
                        </a:rPr>
                        <a:t>Custom mutators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189633"/>
                  </a:ext>
                </a:extLst>
              </a:tr>
              <a:tr h="31639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Cosmic Ray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Python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Python 3.xx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2025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Windows, Linux, MacOs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All relevant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Yes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867372"/>
                  </a:ext>
                </a:extLst>
              </a:tr>
              <a:tr h="24343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MutMut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Python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Python</a:t>
                      </a:r>
                      <a:r>
                        <a:rPr lang="sk-SK" sz="900" dirty="0">
                          <a:effectLst/>
                        </a:rPr>
                        <a:t> </a:t>
                      </a:r>
                      <a:r>
                        <a:rPr lang="en-US" sz="900" dirty="0">
                          <a:effectLst/>
                        </a:rPr>
                        <a:t>&gt;=3.6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2025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Linux, </a:t>
                      </a:r>
                      <a:r>
                        <a:rPr lang="en-US" sz="900" dirty="0" err="1">
                          <a:effectLst/>
                        </a:rPr>
                        <a:t>MacOs</a:t>
                      </a:r>
                      <a:endParaRPr lang="en-US" sz="900" dirty="0">
                        <a:effectLst/>
                      </a:endParaRP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 err="1">
                          <a:effectLst/>
                        </a:rPr>
                        <a:t>pytest</a:t>
                      </a:r>
                      <a:endParaRPr lang="en-US" sz="900" dirty="0">
                        <a:effectLst/>
                      </a:endParaRP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No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92828"/>
                  </a:ext>
                </a:extLst>
              </a:tr>
              <a:tr h="24343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MutPy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Python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3.3 </a:t>
                      </a:r>
                      <a:r>
                        <a:rPr lang="sk-SK" sz="900" dirty="0">
                          <a:effectLst/>
                        </a:rPr>
                        <a:t> - </a:t>
                      </a:r>
                      <a:r>
                        <a:rPr lang="en-US" sz="900" dirty="0">
                          <a:effectLst/>
                        </a:rPr>
                        <a:t>3.11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2019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Windows, Linux, MacOs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pytest, unittest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044633"/>
                  </a:ext>
                </a:extLst>
              </a:tr>
              <a:tr h="24343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XMutant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Python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Python 3.</a:t>
                      </a:r>
                      <a:r>
                        <a:rPr lang="sk-SK" sz="900" dirty="0">
                          <a:effectLst/>
                        </a:rPr>
                        <a:t>6</a:t>
                      </a:r>
                      <a:endParaRPr lang="en-US" sz="900" dirty="0">
                        <a:effectLst/>
                      </a:endParaRP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2018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Windows, Linux, </a:t>
                      </a:r>
                      <a:r>
                        <a:rPr lang="en-US" sz="900" dirty="0" err="1">
                          <a:effectLst/>
                        </a:rPr>
                        <a:t>MacOs</a:t>
                      </a:r>
                      <a:endParaRPr lang="en-US" sz="900" dirty="0">
                        <a:effectLst/>
                      </a:endParaRP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doctests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No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9688523"/>
                  </a:ext>
                </a:extLst>
              </a:tr>
              <a:tr h="24343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Mutatest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Python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Python 3.7 or 3.8.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2023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Windows, Linux, MacOs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pytest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509592"/>
                  </a:ext>
                </a:extLst>
              </a:tr>
              <a:tr h="24343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Poodle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Python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Python 3.9 - 3.12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03/02/2024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Windows, Linux, MacOs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All relevant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No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923148"/>
                  </a:ext>
                </a:extLst>
              </a:tr>
              <a:tr h="25299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22437" marR="22437" marT="14958" marB="149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22437" marR="22437" marT="14958" marB="149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22437" marR="22437" marT="14958" marB="149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400" dirty="0">
                        <a:effectLst/>
                      </a:endParaRPr>
                    </a:p>
                  </a:txBody>
                  <a:tcPr marL="22437" marR="22437" marT="14958" marB="149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22437" marR="22437" marT="14958" marB="149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22437" marR="22437" marT="14958" marB="149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22437" marR="22437" marT="14958" marB="149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1620363"/>
                  </a:ext>
                </a:extLst>
              </a:tr>
              <a:tr h="25299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22437" marR="22437" marT="14958" marB="149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22437" marR="22437" marT="14958" marB="149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22437" marR="22437" marT="14958" marB="149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22437" marR="22437" marT="14958" marB="149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22437" marR="22437" marT="14958" marB="149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22437" marR="22437" marT="14958" marB="149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400" dirty="0">
                        <a:effectLst/>
                      </a:endParaRPr>
                    </a:p>
                  </a:txBody>
                  <a:tcPr marL="22437" marR="22437" marT="14958" marB="149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8520767"/>
                  </a:ext>
                </a:extLst>
              </a:tr>
              <a:tr h="31639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Selective mutating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Paralel mutating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Report format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Ease of setup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Community support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AST Parser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1084357"/>
                  </a:ext>
                </a:extLst>
              </a:tr>
              <a:tr h="31639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Cosmic Ray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Yes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Html, console, </a:t>
                      </a:r>
                      <a:r>
                        <a:rPr lang="sk-SK" sz="900" dirty="0">
                          <a:effectLst/>
                        </a:rPr>
                        <a:t>JSON</a:t>
                      </a:r>
                      <a:r>
                        <a:rPr lang="en-US" sz="900" dirty="0">
                          <a:effectLst/>
                        </a:rPr>
                        <a:t> database dump, XML 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Moderate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Moderate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 err="1">
                          <a:effectLst/>
                        </a:rPr>
                        <a:t>Parso</a:t>
                      </a:r>
                      <a:endParaRPr lang="en-US" sz="900" dirty="0">
                        <a:effectLst/>
                      </a:endParaRP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000753"/>
                  </a:ext>
                </a:extLst>
              </a:tr>
              <a:tr h="31639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MutMut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custom GUI or .html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Moderate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Moderate</a:t>
                      </a:r>
                      <a:br>
                        <a:rPr lang="en-US" sz="900" dirty="0">
                          <a:effectLst/>
                        </a:rPr>
                      </a:br>
                      <a:endParaRPr lang="en-US" sz="900" dirty="0">
                        <a:effectLst/>
                      </a:endParaRP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 err="1">
                          <a:effectLst/>
                        </a:rPr>
                        <a:t>Parso</a:t>
                      </a:r>
                      <a:endParaRPr lang="en-US" sz="900" dirty="0">
                        <a:effectLst/>
                      </a:endParaRP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374464"/>
                  </a:ext>
                </a:extLst>
              </a:tr>
              <a:tr h="31639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MutPy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No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YAML/HTML 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Easy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Moderate</a:t>
                      </a:r>
                      <a:br>
                        <a:rPr lang="en-US" sz="900">
                          <a:effectLst/>
                        </a:rPr>
                      </a:br>
                      <a:endParaRPr lang="en-US" sz="900">
                        <a:effectLst/>
                      </a:endParaRP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 err="1">
                          <a:effectLst/>
                        </a:rPr>
                        <a:t>ast</a:t>
                      </a:r>
                      <a:endParaRPr lang="en-US" sz="900" dirty="0">
                        <a:effectLst/>
                      </a:endParaRP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336253"/>
                  </a:ext>
                </a:extLst>
              </a:tr>
              <a:tr h="24343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XMutant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Text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Easy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None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bytecode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64764"/>
                  </a:ext>
                </a:extLst>
              </a:tr>
              <a:tr h="24343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Mutatest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Text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Moderate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Moderate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 err="1">
                          <a:effectLst/>
                        </a:rPr>
                        <a:t>ast</a:t>
                      </a:r>
                      <a:endParaRPr lang="en-US" sz="900" dirty="0">
                        <a:effectLst/>
                      </a:endParaRP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731799"/>
                  </a:ext>
                </a:extLst>
              </a:tr>
              <a:tr h="24343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>
                          <a:effectLst/>
                        </a:rPr>
                        <a:t>Poodle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>
                          <a:effectLst/>
                        </a:rPr>
                        <a:t>Yes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Text, Html, Json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sk-SK" sz="900" dirty="0" err="1">
                          <a:effectLst/>
                        </a:rPr>
                        <a:t>Moderate</a:t>
                      </a:r>
                      <a:endParaRPr lang="en-US" sz="900" dirty="0">
                        <a:effectLst/>
                      </a:endParaRP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Low</a:t>
                      </a: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dirty="0" err="1">
                          <a:effectLst/>
                        </a:rPr>
                        <a:t>ast</a:t>
                      </a:r>
                      <a:endParaRPr lang="en-US" sz="900" dirty="0">
                        <a:effectLst/>
                      </a:endParaRPr>
                    </a:p>
                  </a:txBody>
                  <a:tcPr marL="22437" marR="22437" marT="14958" marB="149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88847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5877C58-6DAD-689E-1E65-DE0B3F0C738A}"/>
              </a:ext>
            </a:extLst>
          </p:cNvPr>
          <p:cNvGraphicFramePr>
            <a:graphicFrameLocks noGrp="1"/>
          </p:cNvGraphicFramePr>
          <p:nvPr/>
        </p:nvGraphicFramePr>
        <p:xfrm>
          <a:off x="8140701" y="1027450"/>
          <a:ext cx="3713571" cy="4549748"/>
        </p:xfrm>
        <a:graphic>
          <a:graphicData uri="http://schemas.openxmlformats.org/drawingml/2006/table">
            <a:tbl>
              <a:tblPr/>
              <a:tblGrid>
                <a:gridCol w="782070">
                  <a:extLst>
                    <a:ext uri="{9D8B030D-6E8A-4147-A177-3AD203B41FA5}">
                      <a16:colId xmlns:a16="http://schemas.microsoft.com/office/drawing/2014/main" val="2153834982"/>
                    </a:ext>
                  </a:extLst>
                </a:gridCol>
                <a:gridCol w="1417818">
                  <a:extLst>
                    <a:ext uri="{9D8B030D-6E8A-4147-A177-3AD203B41FA5}">
                      <a16:colId xmlns:a16="http://schemas.microsoft.com/office/drawing/2014/main" val="3538631323"/>
                    </a:ext>
                  </a:extLst>
                </a:gridCol>
                <a:gridCol w="504561">
                  <a:extLst>
                    <a:ext uri="{9D8B030D-6E8A-4147-A177-3AD203B41FA5}">
                      <a16:colId xmlns:a16="http://schemas.microsoft.com/office/drawing/2014/main" val="1653926826"/>
                    </a:ext>
                  </a:extLst>
                </a:gridCol>
                <a:gridCol w="504561">
                  <a:extLst>
                    <a:ext uri="{9D8B030D-6E8A-4147-A177-3AD203B41FA5}">
                      <a16:colId xmlns:a16="http://schemas.microsoft.com/office/drawing/2014/main" val="1607090353"/>
                    </a:ext>
                  </a:extLst>
                </a:gridCol>
                <a:gridCol w="504561">
                  <a:extLst>
                    <a:ext uri="{9D8B030D-6E8A-4147-A177-3AD203B41FA5}">
                      <a16:colId xmlns:a16="http://schemas.microsoft.com/office/drawing/2014/main" val="573177812"/>
                    </a:ext>
                  </a:extLst>
                </a:gridCol>
              </a:tblGrid>
              <a:tr h="31081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 b="1">
                          <a:effectLst/>
                        </a:rPr>
                        <a:t>Mutation example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 b="1">
                          <a:effectLst/>
                        </a:rPr>
                        <a:t>Mutation type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1">
                          <a:effectLst/>
                        </a:rPr>
                        <a:t>mutmut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1">
                          <a:effectLst/>
                        </a:rPr>
                        <a:t>mutpy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1" dirty="0">
                          <a:effectLst/>
                        </a:rPr>
                        <a:t>cosmic ray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022812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>
                          <a:effectLst/>
                        </a:rPr>
                        <a:t>a + b → a - b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 dirty="0">
                          <a:effectLst/>
                        </a:rPr>
                        <a:t>Arithmetic Operator Replacement (AOR)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590437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>
                          <a:effectLst/>
                        </a:rPr>
                        <a:t>x &amp; y → x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 dirty="0">
                          <a:effectLst/>
                        </a:rPr>
                        <a:t>Bitwise Operator Replacement (BOR)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0453202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>
                          <a:effectLst/>
                        </a:rPr>
                        <a:t>x == y → x != y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 dirty="0">
                          <a:effectLst/>
                        </a:rPr>
                        <a:t>Comparison Operator Replacement (COR)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164515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>
                          <a:effectLst/>
                        </a:rPr>
                        <a:t>and → or, True → False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 dirty="0">
                          <a:effectLst/>
                        </a:rPr>
                        <a:t>Logical Operator Replacement (LOR)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84487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>
                          <a:effectLst/>
                        </a:rPr>
                        <a:t>-x → +x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 dirty="0">
                          <a:effectLst/>
                        </a:rPr>
                        <a:t>Unary Operator Replacement (UOR)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2853186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>
                          <a:effectLst/>
                        </a:rPr>
                        <a:t>break → continue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 dirty="0">
                          <a:effectLst/>
                        </a:rPr>
                        <a:t>Control Flow Replacement (CFR)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787643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>
                          <a:effectLst/>
                        </a:rPr>
                        <a:t>5 → 0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 dirty="0">
                          <a:effectLst/>
                        </a:rPr>
                        <a:t>Numerical constant Replacement (CRP)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882334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>
                          <a:effectLst/>
                        </a:rPr>
                        <a:t>raise A → raise B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 dirty="0">
                          <a:effectLst/>
                        </a:rPr>
                        <a:t>Exception Handling Mutations (EXM)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680508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>
                          <a:effectLst/>
                        </a:rPr>
                        <a:t>removes @decorator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>
                          <a:effectLst/>
                        </a:rPr>
                        <a:t>Decorator Removal (DEC)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0185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>
                          <a:effectLst/>
                        </a:rPr>
                        <a:t>x → y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 dirty="0">
                          <a:effectLst/>
                        </a:rPr>
                        <a:t>Variable Replacement (VRP)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922514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>
                          <a:effectLst/>
                        </a:rPr>
                        <a:t>"hello" → "world"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 dirty="0">
                          <a:effectLst/>
                        </a:rPr>
                        <a:t>String mutator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14289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>
                          <a:effectLst/>
                        </a:rPr>
                        <a:t>Deletes entire if block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 dirty="0">
                          <a:effectLst/>
                        </a:rPr>
                        <a:t>Block statement mutator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53433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>
                          <a:effectLst/>
                        </a:rPr>
                        <a:t>return x → return None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000">
                          <a:effectLst/>
                        </a:rPr>
                        <a:t>Method mutator</a:t>
                      </a: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</a:endParaRPr>
                    </a:p>
                  </a:txBody>
                  <a:tcPr marL="15137" marR="15137" marT="10091" marB="10091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198344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D5D8AB8A-8D23-2F7E-2DE7-8F0340C25A1A}"/>
              </a:ext>
            </a:extLst>
          </p:cNvPr>
          <p:cNvSpPr txBox="1">
            <a:spLocks/>
          </p:cNvSpPr>
          <p:nvPr/>
        </p:nvSpPr>
        <p:spPr>
          <a:xfrm>
            <a:off x="656322" y="87793"/>
            <a:ext cx="10515600" cy="7667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err="1"/>
              <a:t>Porovnanie</a:t>
            </a:r>
            <a:r>
              <a:rPr lang="en-US" sz="4000" b="1" dirty="0"/>
              <a:t> Python</a:t>
            </a:r>
            <a:r>
              <a:rPr lang="sk-SK" sz="4000" b="1" dirty="0"/>
              <a:t> </a:t>
            </a:r>
            <a:r>
              <a:rPr lang="sk-SK" sz="4000" b="1" dirty="0" err="1"/>
              <a:t>Mutation</a:t>
            </a:r>
            <a:r>
              <a:rPr lang="sk-SK" sz="4000" b="1" dirty="0"/>
              <a:t> </a:t>
            </a:r>
            <a:r>
              <a:rPr lang="sk-SK" sz="4000" b="1" dirty="0" err="1"/>
              <a:t>Testing</a:t>
            </a:r>
            <a:r>
              <a:rPr lang="sk-SK" sz="4000" b="1" dirty="0"/>
              <a:t> </a:t>
            </a:r>
            <a:r>
              <a:rPr lang="sk-SK" sz="4000" b="1" dirty="0" err="1"/>
              <a:t>Frameworkov</a:t>
            </a:r>
            <a:endParaRPr lang="en-US" sz="4000" b="1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0D10D00-975E-8298-15F9-20F8FF74A209}"/>
              </a:ext>
            </a:extLst>
          </p:cNvPr>
          <p:cNvSpPr txBox="1">
            <a:spLocks/>
          </p:cNvSpPr>
          <p:nvPr/>
        </p:nvSpPr>
        <p:spPr>
          <a:xfrm>
            <a:off x="2225064" y="5795378"/>
            <a:ext cx="6876992" cy="5786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Ako </a:t>
            </a:r>
            <a:r>
              <a:rPr lang="en-US" sz="2400" b="1" dirty="0" err="1"/>
              <a:t>najpraktickejší</a:t>
            </a:r>
            <a:r>
              <a:rPr lang="en-US" sz="2400" b="1" dirty="0"/>
              <a:t> </a:t>
            </a:r>
            <a:r>
              <a:rPr lang="en-US" sz="2400" b="1" dirty="0" err="1"/>
              <a:t>som</a:t>
            </a:r>
            <a:r>
              <a:rPr lang="en-US" sz="2400" b="1" dirty="0"/>
              <a:t> </a:t>
            </a:r>
            <a:r>
              <a:rPr lang="en-US" sz="2400" b="1" dirty="0" err="1"/>
              <a:t>vyhodnotil</a:t>
            </a:r>
            <a:r>
              <a:rPr lang="en-US" sz="2400" b="1" dirty="0"/>
              <a:t> Cosmic-ray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52779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4524BC-5231-FE4B-399E-021414BD3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12C7C79-34FB-5E75-7C74-E9E152041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AFBC84-DB5F-C3E0-929E-BD77DB53E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49E601-EB64-7E07-4A84-68B3602A6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D47289-67B6-CD5A-69BD-808C3A87C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91CCAC-EDC5-EAE1-6C04-ECA3DAF2E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275E88-AC5B-D382-A101-4A5CFD9D4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125" y="278535"/>
            <a:ext cx="10608525" cy="1033669"/>
          </a:xfrm>
        </p:spPr>
        <p:txBody>
          <a:bodyPr>
            <a:noAutofit/>
          </a:bodyPr>
          <a:lstStyle/>
          <a:p>
            <a:r>
              <a:rPr lang="en-US" sz="4000" dirty="0" err="1">
                <a:solidFill>
                  <a:schemeClr val="bg1"/>
                </a:solidFill>
              </a:rPr>
              <a:t>Testovanie</a:t>
            </a:r>
            <a:r>
              <a:rPr lang="en-US" sz="4000" dirty="0">
                <a:solidFill>
                  <a:schemeClr val="bg1"/>
                </a:solidFill>
              </a:rPr>
              <a:t> cosmic-ray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F08498-BF5D-1F6F-F9D6-281E9F78C911}"/>
              </a:ext>
            </a:extLst>
          </p:cNvPr>
          <p:cNvSpPr txBox="1"/>
          <p:nvPr/>
        </p:nvSpPr>
        <p:spPr>
          <a:xfrm>
            <a:off x="147305" y="2362898"/>
            <a:ext cx="7161592" cy="3786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sk-SK" sz="2400" dirty="0"/>
              <a:t>Testovanie knižnice </a:t>
            </a:r>
            <a:r>
              <a:rPr lang="sk-SK" sz="2400" dirty="0" err="1"/>
              <a:t>validators</a:t>
            </a:r>
            <a:r>
              <a:rPr lang="sk-SK" sz="2400" dirty="0"/>
              <a:t> </a:t>
            </a:r>
            <a:r>
              <a:rPr lang="en-US" sz="2400" dirty="0"/>
              <a:t>s</a:t>
            </a:r>
            <a:r>
              <a:rPr lang="sk-SK" sz="2400" dirty="0"/>
              <a:t> </a:t>
            </a:r>
            <a:r>
              <a:rPr lang="sk-SK" sz="2400" dirty="0" err="1"/>
              <a:t>frameworkom</a:t>
            </a:r>
            <a:r>
              <a:rPr lang="en-US" sz="2400" dirty="0"/>
              <a:t> cosmic ray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sk-SK" sz="2400" dirty="0"/>
              <a:t>Mutácie </a:t>
            </a:r>
            <a:r>
              <a:rPr lang="en-US" sz="2400" dirty="0" err="1"/>
              <a:t>odhalili</a:t>
            </a:r>
            <a:r>
              <a:rPr lang="en-US" sz="2400" dirty="0"/>
              <a:t> </a:t>
            </a:r>
            <a:r>
              <a:rPr lang="sk-SK" sz="2400" dirty="0"/>
              <a:t>chybnú</a:t>
            </a:r>
            <a:r>
              <a:rPr lang="en-US" sz="2400" dirty="0"/>
              <a:t> </a:t>
            </a:r>
            <a:r>
              <a:rPr lang="en-US" sz="2400" dirty="0" err="1"/>
              <a:t>implementáciu</a:t>
            </a:r>
            <a:r>
              <a:rPr lang="en-US" sz="2400" dirty="0"/>
              <a:t> </a:t>
            </a:r>
            <a:r>
              <a:rPr lang="sk-SK" sz="2400" dirty="0"/>
              <a:t>validátorov modulu </a:t>
            </a:r>
            <a:r>
              <a:rPr lang="sk-SK" sz="2400" dirty="0" err="1"/>
              <a:t>finance</a:t>
            </a:r>
            <a:r>
              <a:rPr lang="sk-SK" sz="2400" dirty="0"/>
              <a:t> (identifikátore cenných dokumentov)</a:t>
            </a:r>
            <a:endParaRPr lang="en-US" sz="2400" dirty="0"/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Checksum </a:t>
            </a:r>
            <a:r>
              <a:rPr lang="en-US" sz="2400" dirty="0" err="1"/>
              <a:t>sa</a:t>
            </a:r>
            <a:r>
              <a:rPr lang="en-US" sz="2400" dirty="0"/>
              <a:t> </a:t>
            </a:r>
            <a:r>
              <a:rPr lang="en-US" sz="2400" b="1" dirty="0" err="1"/>
              <a:t>vôbec</a:t>
            </a:r>
            <a:r>
              <a:rPr lang="en-US" sz="2400" b="1" dirty="0"/>
              <a:t> </a:t>
            </a:r>
            <a:r>
              <a:rPr lang="en-US" sz="2400" b="1" dirty="0" err="1"/>
              <a:t>nepočíta</a:t>
            </a:r>
            <a:endParaRPr lang="en-US" sz="2400" b="1" dirty="0"/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Testy </a:t>
            </a:r>
            <a:r>
              <a:rPr lang="en-US" sz="2400" dirty="0" err="1"/>
              <a:t>prechádzajú</a:t>
            </a:r>
            <a:r>
              <a:rPr lang="en-US" sz="2400" dirty="0"/>
              <a:t>, ale </a:t>
            </a:r>
            <a:r>
              <a:rPr lang="en-US" sz="2400" dirty="0" err="1"/>
              <a:t>kód</a:t>
            </a:r>
            <a:r>
              <a:rPr lang="en-US" sz="2400" dirty="0"/>
              <a:t> je </a:t>
            </a:r>
            <a:r>
              <a:rPr lang="en-US" sz="2400" dirty="0" err="1"/>
              <a:t>chybný</a:t>
            </a:r>
            <a:endParaRPr lang="sk-SK" sz="2400" dirty="0"/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hlinkClick r:id="rId2"/>
              </a:rPr>
              <a:t>https://github.com/python-validators/validators/issues/440</a:t>
            </a:r>
            <a:r>
              <a:rPr lang="sk-SK" sz="2400" dirty="0"/>
              <a:t> 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B6790E-4A1E-1E39-CB35-8C9F139B2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363" y="56692"/>
            <a:ext cx="3382624" cy="26089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7D167E-EE9B-14FD-B1F7-BD3A0A7483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897" y="2722323"/>
            <a:ext cx="4690232" cy="390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600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7E4EEE-AD98-4D43-42B6-C70EB9F5D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F4D340D-6399-6182-5C9F-C18DBBF20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F0515E-E168-B96F-3391-457A8D83C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A8B0A2-E209-8EFA-4C31-74A2D78D7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ADE90B-2393-09A2-EEE2-5D64E65A4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5C32CF-B28C-D817-4C66-8D094DF53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3B1C11-5BF6-98B5-22DE-BA406ACFA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968"/>
            <a:ext cx="10608525" cy="1033669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POC: Targeted mutation testing workflow</a:t>
            </a:r>
          </a:p>
        </p:txBody>
      </p:sp>
      <p:pic>
        <p:nvPicPr>
          <p:cNvPr id="5" name="Picture 4" descr="A screenshot of a test&#10;&#10;AI-generated content may be incorrect.">
            <a:extLst>
              <a:ext uri="{FF2B5EF4-FFF2-40B4-BE49-F238E27FC236}">
                <a16:creationId xmlns:a16="http://schemas.microsoft.com/office/drawing/2014/main" id="{3ED780F7-AD95-3480-9026-FD6BCC4BA5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6517" y="1866709"/>
            <a:ext cx="6099395" cy="45418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826717A-721E-52A8-9D8A-9D8475995F61}"/>
              </a:ext>
            </a:extLst>
          </p:cNvPr>
          <p:cNvSpPr txBox="1"/>
          <p:nvPr/>
        </p:nvSpPr>
        <p:spPr>
          <a:xfrm>
            <a:off x="147305" y="2362899"/>
            <a:ext cx="5948695" cy="303961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Navrhol</a:t>
            </a:r>
            <a:r>
              <a:rPr lang="en-US" sz="2400" dirty="0"/>
              <a:t> </a:t>
            </a:r>
            <a:r>
              <a:rPr lang="en-US" sz="2400" dirty="0" err="1"/>
              <a:t>som</a:t>
            </a:r>
            <a:r>
              <a:rPr lang="en-US" sz="2400" dirty="0"/>
              <a:t> </a:t>
            </a:r>
            <a:r>
              <a:rPr lang="en-US" sz="2400" dirty="0" err="1"/>
              <a:t>sadu</a:t>
            </a:r>
            <a:r>
              <a:rPr lang="en-US" sz="2400" dirty="0"/>
              <a:t> </a:t>
            </a:r>
            <a:r>
              <a:rPr lang="en-US" sz="2400" dirty="0" err="1"/>
              <a:t>promptov</a:t>
            </a:r>
            <a:r>
              <a:rPr lang="en-US" sz="2400" dirty="0"/>
              <a:t>/use-</a:t>
            </a:r>
            <a:r>
              <a:rPr lang="en-US" sz="2400" dirty="0" err="1"/>
              <a:t>casov</a:t>
            </a:r>
            <a:r>
              <a:rPr lang="en-US" sz="2400" dirty="0"/>
              <a:t>, </a:t>
            </a:r>
            <a:r>
              <a:rPr lang="en-US" sz="2400" dirty="0" err="1"/>
              <a:t>podľa</a:t>
            </a:r>
            <a:r>
              <a:rPr lang="en-US" sz="2400" dirty="0"/>
              <a:t> </a:t>
            </a:r>
            <a:r>
              <a:rPr lang="en-US" sz="2400" dirty="0" err="1"/>
              <a:t>ktorých</a:t>
            </a:r>
            <a:r>
              <a:rPr lang="en-US" sz="2400" dirty="0"/>
              <a:t> </a:t>
            </a:r>
            <a:r>
              <a:rPr lang="en-US" sz="2400" dirty="0" err="1"/>
              <a:t>sa</a:t>
            </a:r>
            <a:r>
              <a:rPr lang="en-US" sz="2400" dirty="0"/>
              <a:t> VS code agent </a:t>
            </a:r>
            <a:r>
              <a:rPr lang="en-US" sz="2400" dirty="0" err="1"/>
              <a:t>riadi</a:t>
            </a:r>
            <a:r>
              <a:rPr lang="en-US" sz="2400" dirty="0"/>
              <a:t>. 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Workflow </a:t>
            </a:r>
            <a:r>
              <a:rPr lang="en-US" sz="2400" dirty="0" err="1"/>
              <a:t>detailne</a:t>
            </a:r>
            <a:r>
              <a:rPr lang="en-US" sz="2400" dirty="0"/>
              <a:t> </a:t>
            </a:r>
            <a:r>
              <a:rPr lang="en-US" sz="2400" dirty="0" err="1"/>
              <a:t>opisuje</a:t>
            </a:r>
            <a:r>
              <a:rPr lang="en-US" sz="2400" dirty="0"/>
              <a:t> </a:t>
            </a:r>
            <a:r>
              <a:rPr lang="en-US" sz="2400" dirty="0" err="1"/>
              <a:t>čo</a:t>
            </a:r>
            <a:r>
              <a:rPr lang="en-US" sz="2400" dirty="0"/>
              <a:t> </a:t>
            </a:r>
            <a:r>
              <a:rPr lang="en-US" sz="2400" dirty="0" err="1"/>
              <a:t>má</a:t>
            </a:r>
            <a:r>
              <a:rPr lang="en-US" sz="2400" dirty="0"/>
              <a:t> agent </a:t>
            </a:r>
            <a:r>
              <a:rPr lang="en-US" sz="2400" dirty="0" err="1"/>
              <a:t>vykonať</a:t>
            </a:r>
            <a:r>
              <a:rPr lang="en-US" sz="2400" dirty="0"/>
              <a:t>.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Cieľ</a:t>
            </a:r>
            <a:r>
              <a:rPr lang="en-US" sz="2400" dirty="0"/>
              <a:t>: aby </a:t>
            </a:r>
            <a:r>
              <a:rPr lang="en-US" sz="2400" dirty="0" err="1"/>
              <a:t>používateľ</a:t>
            </a:r>
            <a:r>
              <a:rPr lang="en-US" sz="2400" dirty="0"/>
              <a:t> </a:t>
            </a:r>
            <a:r>
              <a:rPr lang="en-US" sz="2400" dirty="0" err="1"/>
              <a:t>nemusel</a:t>
            </a:r>
            <a:r>
              <a:rPr lang="en-US" sz="2400" dirty="0"/>
              <a:t> </a:t>
            </a:r>
            <a:r>
              <a:rPr lang="en-US" sz="2400" dirty="0" err="1"/>
              <a:t>poznať</a:t>
            </a:r>
            <a:r>
              <a:rPr lang="en-US" sz="2400" dirty="0"/>
              <a:t> </a:t>
            </a:r>
            <a:r>
              <a:rPr lang="en-US" sz="2400" dirty="0" err="1"/>
              <a:t>detaily</a:t>
            </a:r>
            <a:r>
              <a:rPr lang="en-US" sz="2400" dirty="0"/>
              <a:t> </a:t>
            </a:r>
            <a:r>
              <a:rPr lang="en-US" sz="2400" dirty="0" err="1"/>
              <a:t>frameworku</a:t>
            </a:r>
            <a:r>
              <a:rPr lang="en-US" sz="2400" dirty="0"/>
              <a:t> a </a:t>
            </a:r>
            <a:r>
              <a:rPr lang="en-US" sz="2400" dirty="0" err="1"/>
              <a:t>nespúšťal</a:t>
            </a:r>
            <a:r>
              <a:rPr lang="en-US" sz="2400" dirty="0"/>
              <a:t> mutation testing </a:t>
            </a:r>
            <a:r>
              <a:rPr lang="en-US" sz="2400" dirty="0" err="1"/>
              <a:t>na</a:t>
            </a:r>
            <a:r>
              <a:rPr lang="en-US" sz="2400" dirty="0"/>
              <a:t> celom </a:t>
            </a:r>
            <a:r>
              <a:rPr lang="en-US" sz="2400" dirty="0" err="1"/>
              <a:t>projekte</a:t>
            </a:r>
            <a:r>
              <a:rPr lang="en-US" sz="2400" dirty="0"/>
              <a:t>.</a:t>
            </a:r>
          </a:p>
          <a:p>
            <a:pPr marL="228600"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Test </a:t>
            </a:r>
            <a:r>
              <a:rPr lang="en-US" sz="2400" dirty="0" err="1"/>
              <a:t>na</a:t>
            </a:r>
            <a:r>
              <a:rPr lang="en-US" sz="2400" dirty="0"/>
              <a:t> python/validators: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2EBC88-EDE0-6994-6876-5ECB54C9247A}"/>
              </a:ext>
            </a:extLst>
          </p:cNvPr>
          <p:cNvSpPr txBox="1"/>
          <p:nvPr/>
        </p:nvSpPr>
        <p:spPr>
          <a:xfrm>
            <a:off x="883041" y="5108124"/>
            <a:ext cx="5259421" cy="137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i="1" dirty="0" err="1">
                <a:solidFill>
                  <a:schemeClr val="tx2"/>
                </a:solidFill>
              </a:rPr>
              <a:t>Vykonalo</a:t>
            </a:r>
            <a:r>
              <a:rPr lang="en-US" sz="2800" i="1" dirty="0">
                <a:solidFill>
                  <a:schemeClr val="tx2"/>
                </a:solidFill>
              </a:rPr>
              <a:t> </a:t>
            </a:r>
            <a:r>
              <a:rPr lang="en-US" sz="2800" i="1" dirty="0" err="1">
                <a:solidFill>
                  <a:schemeClr val="tx2"/>
                </a:solidFill>
              </a:rPr>
              <a:t>sa</a:t>
            </a:r>
            <a:r>
              <a:rPr lang="en-US" sz="2800" i="1" dirty="0">
                <a:solidFill>
                  <a:schemeClr val="tx2"/>
                </a:solidFill>
              </a:rPr>
              <a:t> </a:t>
            </a:r>
            <a:r>
              <a:rPr lang="en-US" sz="2800" i="1" dirty="0" err="1">
                <a:solidFill>
                  <a:schemeClr val="tx2"/>
                </a:solidFill>
              </a:rPr>
              <a:t>len</a:t>
            </a:r>
            <a:r>
              <a:rPr lang="en-US" sz="2800" i="1" dirty="0">
                <a:solidFill>
                  <a:schemeClr val="tx2"/>
                </a:solidFill>
              </a:rPr>
              <a:t> 30/3040 </a:t>
            </a:r>
            <a:r>
              <a:rPr lang="en-US" sz="2800" i="1" dirty="0" err="1">
                <a:solidFill>
                  <a:schemeClr val="tx2"/>
                </a:solidFill>
              </a:rPr>
              <a:t>mutácií</a:t>
            </a:r>
            <a:endParaRPr lang="en-US" sz="2800" i="1" dirty="0">
              <a:solidFill>
                <a:schemeClr val="tx2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i="1" dirty="0" err="1">
                <a:solidFill>
                  <a:schemeClr val="tx2"/>
                </a:solidFill>
              </a:rPr>
              <a:t>Trvanie</a:t>
            </a:r>
            <a:r>
              <a:rPr lang="en-US" sz="2800" i="1" dirty="0">
                <a:solidFill>
                  <a:schemeClr val="tx2"/>
                </a:solidFill>
              </a:rPr>
              <a:t> </a:t>
            </a:r>
            <a:r>
              <a:rPr lang="en-US" sz="2800" i="1" dirty="0" err="1">
                <a:solidFill>
                  <a:schemeClr val="tx2"/>
                </a:solidFill>
              </a:rPr>
              <a:t>pár</a:t>
            </a:r>
            <a:r>
              <a:rPr lang="en-US" sz="2800" i="1" dirty="0">
                <a:solidFill>
                  <a:schemeClr val="tx2"/>
                </a:solidFill>
              </a:rPr>
              <a:t> </a:t>
            </a:r>
            <a:r>
              <a:rPr lang="en-US" sz="2800" i="1" dirty="0" err="1">
                <a:solidFill>
                  <a:schemeClr val="tx2"/>
                </a:solidFill>
              </a:rPr>
              <a:t>sekúnd</a:t>
            </a:r>
            <a:endParaRPr lang="en-US" sz="2800" i="1" dirty="0">
              <a:solidFill>
                <a:schemeClr val="tx2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i="1" dirty="0" err="1">
                <a:solidFill>
                  <a:schemeClr val="tx2"/>
                </a:solidFill>
              </a:rPr>
              <a:t>Ináč</a:t>
            </a:r>
            <a:r>
              <a:rPr lang="en-US" sz="2800" i="1" dirty="0">
                <a:solidFill>
                  <a:schemeClr val="tx2"/>
                </a:solidFill>
              </a:rPr>
              <a:t> &gt; 5 min</a:t>
            </a:r>
          </a:p>
        </p:txBody>
      </p:sp>
    </p:spTree>
    <p:extLst>
      <p:ext uri="{BB962C8B-B14F-4D97-AF65-F5344CB8AC3E}">
        <p14:creationId xmlns:p14="http://schemas.microsoft.com/office/powerpoint/2010/main" val="1373989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0D4C77-1FDA-6913-0F64-74028D4AE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8A570A-EAC7-D560-F104-50B39E6E1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F2C340-9638-B09A-39E9-24EC004DB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AA99C6-9529-C07E-C588-100603EC3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0594DC-8C4D-8774-09A8-0DF57F57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F786A1-BDC4-5131-802D-3BA785916F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8F1478-3913-9BD2-299E-FE29BEEF3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693" y="153904"/>
            <a:ext cx="11078957" cy="1364504"/>
          </a:xfrm>
        </p:spPr>
        <p:txBody>
          <a:bodyPr>
            <a:noAutofit/>
          </a:bodyPr>
          <a:lstStyle/>
          <a:p>
            <a:r>
              <a:rPr lang="en-US" sz="4800" b="1">
                <a:solidFill>
                  <a:schemeClr val="bg1"/>
                </a:solidFill>
              </a:rPr>
              <a:t>Cosmic Ray line-filter</a:t>
            </a:r>
            <a:br>
              <a:rPr lang="en-US" b="1">
                <a:solidFill>
                  <a:schemeClr val="bg1"/>
                </a:solidFill>
              </a:rPr>
            </a:br>
            <a:r>
              <a:rPr lang="en-US" sz="3600" i="1">
                <a:solidFill>
                  <a:schemeClr val="bg1"/>
                </a:solidFill>
              </a:rPr>
              <a:t>Nová funkcionalita pre cielené mutovanie konkrétnych riadkov</a:t>
            </a:r>
            <a:endParaRPr lang="en-US" b="1" i="1" dirty="0">
              <a:solidFill>
                <a:schemeClr val="bg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CAA5145-0F86-9618-F0F6-1713E7028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908" y="4278696"/>
            <a:ext cx="10515600" cy="25018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/>
              <a:t>Implementácia</a:t>
            </a:r>
          </a:p>
          <a:p>
            <a:r>
              <a:rPr lang="en-US" sz="2400"/>
              <a:t>filter načíta konfiguráciu so súbormi a rozsahmi riadkov</a:t>
            </a:r>
          </a:p>
          <a:p>
            <a:r>
              <a:rPr lang="en-US" sz="2400"/>
              <a:t>mutácie mimo vybraných rozsahov označí v databáze ako SKIPPED</a:t>
            </a:r>
          </a:p>
          <a:p>
            <a:r>
              <a:rPr lang="en-US" sz="2400"/>
              <a:t>Cosmic Ray potom vykoná iba ponechané mutácie</a:t>
            </a:r>
          </a:p>
          <a:p>
            <a:r>
              <a:rPr lang="en-US" sz="2400"/>
              <a:t>menej šumu vo výsledkoch, napr. skipped / nerelevantné mutanty.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06CB52-2FDB-9F1B-865F-123A025D4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1672" y="3348215"/>
            <a:ext cx="4883212" cy="125360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C4C2C6-FF25-3823-DD65-45452B11C18B}"/>
              </a:ext>
            </a:extLst>
          </p:cNvPr>
          <p:cNvSpPr txBox="1">
            <a:spLocks/>
          </p:cNvSpPr>
          <p:nvPr/>
        </p:nvSpPr>
        <p:spPr>
          <a:xfrm>
            <a:off x="459350" y="1899672"/>
            <a:ext cx="10515600" cy="2501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 err="1"/>
              <a:t>Motivácia</a:t>
            </a:r>
            <a:r>
              <a:rPr lang="en-US" sz="2400" b="1" dirty="0"/>
              <a:t>:</a:t>
            </a:r>
          </a:p>
          <a:p>
            <a:r>
              <a:rPr lang="en-US" sz="2400" dirty="0" err="1"/>
              <a:t>pri</a:t>
            </a:r>
            <a:r>
              <a:rPr lang="en-US" sz="2400" dirty="0"/>
              <a:t> </a:t>
            </a:r>
            <a:r>
              <a:rPr lang="en-US" sz="2400" dirty="0" err="1"/>
              <a:t>refaktoringu</a:t>
            </a:r>
            <a:r>
              <a:rPr lang="en-US" sz="2400" dirty="0"/>
              <a:t> </a:t>
            </a:r>
            <a:r>
              <a:rPr lang="en-US" sz="2400" dirty="0" err="1"/>
              <a:t>chceme</a:t>
            </a:r>
            <a:r>
              <a:rPr lang="en-US" sz="2400" dirty="0"/>
              <a:t> </a:t>
            </a:r>
            <a:r>
              <a:rPr lang="en-US" sz="2400" dirty="0" err="1"/>
              <a:t>overiť</a:t>
            </a:r>
            <a:r>
              <a:rPr lang="en-US" sz="2400" dirty="0"/>
              <a:t> </a:t>
            </a:r>
            <a:r>
              <a:rPr lang="en-US" sz="2400" dirty="0" err="1"/>
              <a:t>hlavne</a:t>
            </a:r>
            <a:r>
              <a:rPr lang="en-US" sz="2400" dirty="0"/>
              <a:t> </a:t>
            </a:r>
            <a:r>
              <a:rPr lang="en-US" sz="2400" dirty="0" err="1"/>
              <a:t>zmenené</a:t>
            </a:r>
            <a:r>
              <a:rPr lang="en-US" sz="2400" dirty="0"/>
              <a:t> </a:t>
            </a:r>
            <a:r>
              <a:rPr lang="en-US" sz="2400" dirty="0" err="1"/>
              <a:t>riadky</a:t>
            </a:r>
            <a:r>
              <a:rPr lang="en-US" sz="2400" dirty="0"/>
              <a:t>, </a:t>
            </a:r>
            <a:r>
              <a:rPr lang="en-US" sz="2400" dirty="0" err="1"/>
              <a:t>nie</a:t>
            </a:r>
            <a:r>
              <a:rPr lang="en-US" sz="2400" dirty="0"/>
              <a:t> </a:t>
            </a:r>
            <a:r>
              <a:rPr lang="en-US" sz="2400" dirty="0" err="1"/>
              <a:t>celý</a:t>
            </a:r>
            <a:r>
              <a:rPr lang="en-US" sz="2400" dirty="0"/>
              <a:t> </a:t>
            </a:r>
            <a:r>
              <a:rPr lang="en-US" sz="2400" dirty="0" err="1"/>
              <a:t>projekt</a:t>
            </a:r>
            <a:r>
              <a:rPr lang="en-US" sz="2400" dirty="0"/>
              <a:t>.</a:t>
            </a:r>
          </a:p>
          <a:p>
            <a:r>
              <a:rPr lang="en-US" sz="2400" dirty="0"/>
              <a:t>Line-filter </a:t>
            </a:r>
            <a:r>
              <a:rPr lang="en-US" sz="2400" dirty="0" err="1"/>
              <a:t>umožňuje</a:t>
            </a:r>
            <a:r>
              <a:rPr lang="en-US" sz="2400" dirty="0"/>
              <a:t> </a:t>
            </a:r>
            <a:r>
              <a:rPr lang="en-US" sz="2400" dirty="0" err="1"/>
              <a:t>mutovať</a:t>
            </a:r>
            <a:r>
              <a:rPr lang="en-US" sz="2400" dirty="0"/>
              <a:t> </a:t>
            </a:r>
            <a:r>
              <a:rPr lang="en-US" sz="2400" dirty="0" err="1"/>
              <a:t>iba</a:t>
            </a:r>
            <a:r>
              <a:rPr lang="en-US" sz="2400" dirty="0"/>
              <a:t> </a:t>
            </a:r>
            <a:r>
              <a:rPr lang="en-US" sz="2400" dirty="0" err="1"/>
              <a:t>vybrané</a:t>
            </a:r>
            <a:r>
              <a:rPr lang="en-US" sz="2400" dirty="0"/>
              <a:t> </a:t>
            </a:r>
            <a:r>
              <a:rPr lang="en-US" sz="2400" dirty="0" err="1"/>
              <a:t>riadky</a:t>
            </a:r>
            <a:r>
              <a:rPr lang="en-US" sz="2400" dirty="0"/>
              <a:t>, </a:t>
            </a:r>
            <a:r>
              <a:rPr lang="en-US" sz="2400" dirty="0" err="1"/>
              <a:t>čím</a:t>
            </a:r>
            <a:r>
              <a:rPr lang="en-US" sz="2400" dirty="0"/>
              <a:t> </a:t>
            </a:r>
            <a:r>
              <a:rPr lang="en-US" sz="2400" dirty="0" err="1"/>
              <a:t>znižuje</a:t>
            </a:r>
            <a:r>
              <a:rPr lang="en-US" sz="2400" dirty="0"/>
              <a:t> </a:t>
            </a:r>
            <a:r>
              <a:rPr lang="en-US" sz="2400" dirty="0" err="1"/>
              <a:t>počet</a:t>
            </a:r>
            <a:r>
              <a:rPr lang="en-US" sz="2400" dirty="0"/>
              <a:t> </a:t>
            </a:r>
            <a:r>
              <a:rPr lang="en-US" sz="2400" dirty="0" err="1"/>
              <a:t>mutácií</a:t>
            </a:r>
            <a:r>
              <a:rPr lang="en-US" sz="2400" dirty="0"/>
              <a:t>, </a:t>
            </a:r>
            <a:r>
              <a:rPr lang="en-US" sz="2400" dirty="0" err="1"/>
              <a:t>čas</a:t>
            </a:r>
            <a:r>
              <a:rPr lang="en-US" sz="2400" dirty="0"/>
              <a:t> </a:t>
            </a:r>
            <a:r>
              <a:rPr lang="en-US" sz="2400" dirty="0" err="1"/>
              <a:t>behu</a:t>
            </a:r>
            <a:r>
              <a:rPr lang="en-US" sz="2400" dirty="0"/>
              <a:t> </a:t>
            </a:r>
            <a:r>
              <a:rPr lang="en-US" sz="2400" dirty="0" err="1"/>
              <a:t>aj</a:t>
            </a:r>
            <a:r>
              <a:rPr lang="en-US" sz="2400" dirty="0"/>
              <a:t> </a:t>
            </a:r>
            <a:r>
              <a:rPr lang="en-US" sz="2400" dirty="0" err="1"/>
              <a:t>šum</a:t>
            </a:r>
            <a:r>
              <a:rPr lang="en-US" sz="2400" dirty="0"/>
              <a:t> </a:t>
            </a:r>
            <a:r>
              <a:rPr lang="en-US" sz="2400" dirty="0" err="1"/>
              <a:t>vo</a:t>
            </a:r>
            <a:r>
              <a:rPr lang="en-US" sz="2400" dirty="0"/>
              <a:t> </a:t>
            </a:r>
            <a:r>
              <a:rPr lang="en-US" sz="2400" dirty="0" err="1"/>
              <a:t>výsledkoch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7643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BEA70F-FC32-E6E8-54F6-81479DFCA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972ED2-C53A-E886-554D-4E5B330C5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DABD8D-B6FC-9EF3-3839-F52949AB5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6F1D5C-1CC9-6A47-7B92-FAD3F2276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77D5EC-6313-F793-864E-F3F92282D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21EB3A-E0EB-611D-B666-6A866ADCC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59755E-FB39-45CD-6042-DECB6FBB5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693" y="153904"/>
            <a:ext cx="11078957" cy="1364504"/>
          </a:xfrm>
        </p:spPr>
        <p:txBody>
          <a:bodyPr>
            <a:noAutofit/>
          </a:bodyPr>
          <a:lstStyle/>
          <a:p>
            <a:r>
              <a:rPr lang="en-US" sz="4800" b="1" dirty="0" err="1">
                <a:solidFill>
                  <a:schemeClr val="bg1"/>
                </a:solidFill>
              </a:rPr>
              <a:t>Skrytie</a:t>
            </a:r>
            <a:r>
              <a:rPr lang="en-US" sz="4800" b="1" dirty="0">
                <a:solidFill>
                  <a:schemeClr val="bg1"/>
                </a:solidFill>
              </a:rPr>
              <a:t> “SKIPPED” </a:t>
            </a:r>
            <a:r>
              <a:rPr lang="en-US" sz="4800" b="1" dirty="0" err="1">
                <a:solidFill>
                  <a:schemeClr val="bg1"/>
                </a:solidFill>
              </a:rPr>
              <a:t>mutácií</a:t>
            </a:r>
            <a:r>
              <a:rPr lang="en-US" sz="4800" b="1" dirty="0">
                <a:solidFill>
                  <a:schemeClr val="bg1"/>
                </a:solidFill>
              </a:rPr>
              <a:t> v HTML report</a:t>
            </a:r>
            <a:endParaRPr lang="en-US" b="1" i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2B302D-3109-C6BB-AED9-EEF616EF0875}"/>
              </a:ext>
            </a:extLst>
          </p:cNvPr>
          <p:cNvSpPr txBox="1"/>
          <p:nvPr/>
        </p:nvSpPr>
        <p:spPr>
          <a:xfrm>
            <a:off x="5986383" y="1857256"/>
            <a:ext cx="7295975" cy="18813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>
              <a:lnSpc>
                <a:spcPct val="90000"/>
              </a:lnSpc>
              <a:spcAft>
                <a:spcPts val="600"/>
              </a:spcAft>
            </a:pPr>
            <a:r>
              <a:rPr lang="en-US" sz="2400" dirty="0" err="1"/>
              <a:t>Riešenie</a:t>
            </a:r>
            <a:r>
              <a:rPr lang="en-US" sz="2400" dirty="0"/>
              <a:t>: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Pridaný </a:t>
            </a:r>
            <a:r>
              <a:rPr lang="en-US" sz="2400" dirty="0" err="1"/>
              <a:t>nový</a:t>
            </a:r>
            <a:r>
              <a:rPr lang="en-US" sz="2400" dirty="0"/>
              <a:t> parameter </a:t>
            </a:r>
            <a:r>
              <a:rPr lang="en-US" sz="2400" b="1" dirty="0"/>
              <a:t>--hide-skipped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Už</a:t>
            </a:r>
            <a:r>
              <a:rPr lang="en-US" sz="2400" dirty="0"/>
              <a:t> v </a:t>
            </a:r>
            <a:r>
              <a:rPr lang="en-US" sz="2400" dirty="0" err="1"/>
              <a:t>produkcií</a:t>
            </a:r>
            <a:r>
              <a:rPr lang="en-US" sz="2400" dirty="0"/>
              <a:t> Cosmic-ray</a:t>
            </a:r>
            <a:endParaRPr lang="sk-SK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02A65D-0D72-3511-7CEA-BF9CBE0E0D5F}"/>
              </a:ext>
            </a:extLst>
          </p:cNvPr>
          <p:cNvSpPr txBox="1"/>
          <p:nvPr/>
        </p:nvSpPr>
        <p:spPr>
          <a:xfrm>
            <a:off x="459350" y="1647025"/>
            <a:ext cx="5428701" cy="159743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228600">
              <a:lnSpc>
                <a:spcPct val="90000"/>
              </a:lnSpc>
              <a:spcAft>
                <a:spcPts val="600"/>
              </a:spcAft>
            </a:pPr>
            <a:r>
              <a:rPr lang="en-US" sz="2400" dirty="0" err="1"/>
              <a:t>Problém</a:t>
            </a:r>
            <a:r>
              <a:rPr lang="en-US" sz="2400" dirty="0"/>
              <a:t>: </a:t>
            </a:r>
          </a:p>
          <a:p>
            <a:pPr marL="228600"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HTML report </a:t>
            </a:r>
            <a:r>
              <a:rPr lang="en-US" sz="2400" dirty="0" err="1"/>
              <a:t>obsahoval</a:t>
            </a:r>
            <a:r>
              <a:rPr lang="en-US" sz="2400" dirty="0"/>
              <a:t> </a:t>
            </a:r>
            <a:r>
              <a:rPr lang="en-US" sz="2400" dirty="0" err="1"/>
              <a:t>množstvo</a:t>
            </a:r>
            <a:r>
              <a:rPr lang="en-US" sz="2400" dirty="0"/>
              <a:t> </a:t>
            </a:r>
            <a:r>
              <a:rPr lang="en-US" sz="2400" dirty="0" err="1"/>
              <a:t>mutácií</a:t>
            </a:r>
            <a:r>
              <a:rPr lang="en-US" sz="2400" dirty="0"/>
              <a:t> </a:t>
            </a:r>
            <a:r>
              <a:rPr lang="en-US" sz="2400" dirty="0" err="1"/>
              <a:t>ktoré</a:t>
            </a:r>
            <a:r>
              <a:rPr lang="en-US" sz="2400" dirty="0"/>
              <a:t> </a:t>
            </a:r>
            <a:r>
              <a:rPr lang="en-US" sz="2400" dirty="0" err="1"/>
              <a:t>boli</a:t>
            </a:r>
            <a:r>
              <a:rPr lang="en-US" sz="2400" dirty="0"/>
              <a:t> </a:t>
            </a:r>
            <a:r>
              <a:rPr lang="en-US" sz="2400" dirty="0" err="1"/>
              <a:t>preskočené</a:t>
            </a:r>
            <a:r>
              <a:rPr lang="en-US" sz="2400" dirty="0"/>
              <a:t> (</a:t>
            </a:r>
            <a:r>
              <a:rPr lang="en-US" sz="2400" dirty="0" err="1"/>
              <a:t>napríklad</a:t>
            </a:r>
            <a:r>
              <a:rPr lang="en-US" sz="2400" dirty="0"/>
              <a:t> </a:t>
            </a:r>
            <a:r>
              <a:rPr lang="en-US" sz="2400" dirty="0" err="1"/>
              <a:t>mojim</a:t>
            </a:r>
            <a:r>
              <a:rPr lang="en-US" sz="2400" dirty="0"/>
              <a:t> line-</a:t>
            </a:r>
            <a:r>
              <a:rPr lang="en-US" sz="2400" dirty="0" err="1"/>
              <a:t>filtrom</a:t>
            </a:r>
            <a:r>
              <a:rPr lang="en-US" sz="2400" dirty="0"/>
              <a:t>) a </a:t>
            </a:r>
            <a:r>
              <a:rPr lang="en-US" sz="2400" dirty="0" err="1"/>
              <a:t>tvorili</a:t>
            </a:r>
            <a:r>
              <a:rPr lang="en-US" sz="2400" dirty="0"/>
              <a:t> </a:t>
            </a:r>
            <a:r>
              <a:rPr lang="en-US" sz="2400" dirty="0" err="1"/>
              <a:t>zbytočný</a:t>
            </a:r>
            <a:r>
              <a:rPr lang="en-US" sz="2400" dirty="0"/>
              <a:t> </a:t>
            </a:r>
            <a:r>
              <a:rPr lang="en-US" sz="2400" dirty="0" err="1"/>
              <a:t>šum</a:t>
            </a:r>
            <a:r>
              <a:rPr lang="en-US" sz="2400" dirty="0"/>
              <a:t>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D556BAC-11E7-5962-9E94-4B4A6A39C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817" y="3204732"/>
            <a:ext cx="9018279" cy="2100284"/>
          </a:xfrm>
          <a:prstGeom prst="rect">
            <a:avLst/>
          </a:prstGeom>
        </p:spPr>
      </p:pic>
      <p:pic>
        <p:nvPicPr>
          <p:cNvPr id="15" name="Picture 14" descr="A close up of text&#10;&#10;AI-generated content may be incorrect.">
            <a:extLst>
              <a:ext uri="{FF2B5EF4-FFF2-40B4-BE49-F238E27FC236}">
                <a16:creationId xmlns:a16="http://schemas.microsoft.com/office/drawing/2014/main" id="{BB5E6019-1854-3BD2-9E6F-A7278A4FD2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817" y="5564840"/>
            <a:ext cx="8478466" cy="1139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770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A8C1BF-6374-8AB6-B6BF-C4885DAC3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29DB3F-A89C-103D-5D3D-84A3FB1AD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682D41-C6C3-22DB-EC1B-430FA7E9CA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F0E93E-AAF0-A673-0DF2-D3DF0EA454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96596E-08DF-F838-BFE3-0481D7A7E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3749AE-6453-2B57-BD2A-FC0ACB74F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5EA17-7D7A-75D9-CE72-90F5816FD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693" y="153904"/>
            <a:ext cx="11078957" cy="1364504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MCP Server pre mutation workflow</a:t>
            </a:r>
            <a:endParaRPr lang="en-US" b="1" i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05D5E-53B1-A483-538F-A1CFBEEEF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384" y="2531470"/>
            <a:ext cx="9168623" cy="3229651"/>
          </a:xfrm>
        </p:spPr>
        <p:txBody>
          <a:bodyPr>
            <a:normAutofit/>
          </a:bodyPr>
          <a:lstStyle/>
          <a:p>
            <a:r>
              <a:rPr lang="en-US" sz="2400" dirty="0"/>
              <a:t>MCP server = </a:t>
            </a:r>
            <a:r>
              <a:rPr lang="en-US" sz="2400" dirty="0" err="1"/>
              <a:t>rozhranie</a:t>
            </a:r>
            <a:r>
              <a:rPr lang="en-US" sz="2400" dirty="0"/>
              <a:t> </a:t>
            </a:r>
            <a:r>
              <a:rPr lang="en-US" sz="2400" dirty="0" err="1"/>
              <a:t>medzi</a:t>
            </a:r>
            <a:r>
              <a:rPr lang="en-US" sz="2400" dirty="0"/>
              <a:t> </a:t>
            </a:r>
            <a:r>
              <a:rPr lang="en-US" sz="2400" dirty="0" err="1"/>
              <a:t>Agentom</a:t>
            </a:r>
            <a:r>
              <a:rPr lang="en-US" sz="2400" dirty="0"/>
              <a:t> a </a:t>
            </a:r>
            <a:r>
              <a:rPr lang="en-US" sz="2400" dirty="0" err="1"/>
              <a:t>našimi</a:t>
            </a:r>
            <a:r>
              <a:rPr lang="en-US" sz="2400" dirty="0"/>
              <a:t> </a:t>
            </a:r>
            <a:r>
              <a:rPr lang="en-US" sz="2400" dirty="0" err="1"/>
              <a:t>nástrojmi</a:t>
            </a:r>
            <a:endParaRPr lang="sk-SK" sz="2400" dirty="0"/>
          </a:p>
          <a:p>
            <a:pPr marL="0" indent="0">
              <a:buNone/>
            </a:pPr>
            <a:r>
              <a:rPr lang="sk-SK" sz="2400" dirty="0"/>
              <a:t>Prečo?</a:t>
            </a:r>
          </a:p>
          <a:p>
            <a:r>
              <a:rPr lang="en-US" sz="2400" dirty="0" err="1"/>
              <a:t>stabilný</a:t>
            </a:r>
            <a:r>
              <a:rPr lang="en-US" sz="2400" dirty="0"/>
              <a:t> tool </a:t>
            </a:r>
            <a:r>
              <a:rPr lang="en-US" sz="2400" dirty="0" err="1"/>
              <a:t>namiesto</a:t>
            </a:r>
            <a:r>
              <a:rPr lang="en-US" sz="2400" dirty="0"/>
              <a:t> </a:t>
            </a:r>
            <a:r>
              <a:rPr lang="en-US" sz="2400" dirty="0" err="1"/>
              <a:t>ručného</a:t>
            </a:r>
            <a:r>
              <a:rPr lang="en-US" sz="2400" dirty="0"/>
              <a:t> </a:t>
            </a:r>
            <a:r>
              <a:rPr lang="en-US" sz="2400" dirty="0" err="1"/>
              <a:t>skladania</a:t>
            </a:r>
            <a:r>
              <a:rPr lang="en-US" sz="2400" dirty="0"/>
              <a:t> </a:t>
            </a:r>
            <a:r>
              <a:rPr lang="en-US" sz="2400" dirty="0" err="1"/>
              <a:t>príkazov</a:t>
            </a:r>
            <a:endParaRPr lang="en-US" sz="2400" dirty="0"/>
          </a:p>
          <a:p>
            <a:r>
              <a:rPr lang="en-US" sz="2400" dirty="0" err="1"/>
              <a:t>jednoduché</a:t>
            </a:r>
            <a:r>
              <a:rPr lang="en-US" sz="2400" dirty="0"/>
              <a:t> </a:t>
            </a:r>
            <a:r>
              <a:rPr lang="en-US" sz="2400" dirty="0" err="1"/>
              <a:t>spustenie</a:t>
            </a:r>
            <a:r>
              <a:rPr lang="en-US" sz="2400" dirty="0"/>
              <a:t> mutation </a:t>
            </a:r>
            <a:r>
              <a:rPr lang="en-US" sz="2400" dirty="0" err="1"/>
              <a:t>testingu</a:t>
            </a:r>
            <a:r>
              <a:rPr lang="en-US" sz="2400" dirty="0"/>
              <a:t> s line </a:t>
            </a:r>
            <a:r>
              <a:rPr lang="en-US" sz="2400" dirty="0" err="1"/>
              <a:t>filtrom</a:t>
            </a:r>
            <a:endParaRPr lang="sk-SK" sz="2400" dirty="0"/>
          </a:p>
          <a:p>
            <a:r>
              <a:rPr lang="en-US" sz="2400" dirty="0" err="1"/>
              <a:t>automatická</a:t>
            </a:r>
            <a:r>
              <a:rPr lang="en-US" sz="2400" dirty="0"/>
              <a:t> </a:t>
            </a:r>
            <a:r>
              <a:rPr lang="en-US" sz="2400" dirty="0" err="1"/>
              <a:t>príprava</a:t>
            </a:r>
            <a:r>
              <a:rPr lang="en-US" sz="2400" dirty="0"/>
              <a:t> Cosmic Ray </a:t>
            </a:r>
            <a:r>
              <a:rPr lang="en-US" sz="2400" dirty="0" err="1"/>
              <a:t>configu</a:t>
            </a:r>
            <a:endParaRPr lang="sk-SK" sz="2400" dirty="0"/>
          </a:p>
          <a:p>
            <a:r>
              <a:rPr lang="en-US" sz="2400" dirty="0"/>
              <a:t>Agent </a:t>
            </a:r>
            <a:r>
              <a:rPr lang="en-US" sz="2400" dirty="0" err="1"/>
              <a:t>zadá</a:t>
            </a:r>
            <a:r>
              <a:rPr lang="en-US" sz="2400" dirty="0"/>
              <a:t> </a:t>
            </a:r>
            <a:r>
              <a:rPr lang="en-US" sz="2400" dirty="0" err="1"/>
              <a:t>cieľové</a:t>
            </a:r>
            <a:r>
              <a:rPr lang="en-US" sz="2400" dirty="0"/>
              <a:t> </a:t>
            </a:r>
            <a:r>
              <a:rPr lang="en-US" sz="2400" dirty="0" err="1"/>
              <a:t>riadky</a:t>
            </a:r>
            <a:r>
              <a:rPr lang="en-US" sz="2400" dirty="0"/>
              <a:t>, tool </a:t>
            </a:r>
            <a:r>
              <a:rPr lang="en-US" sz="2400" dirty="0" err="1"/>
              <a:t>vykoná</a:t>
            </a:r>
            <a:r>
              <a:rPr lang="en-US" sz="2400" dirty="0"/>
              <a:t> workflow</a:t>
            </a:r>
            <a:endParaRPr lang="sk-SK" sz="2400" dirty="0"/>
          </a:p>
        </p:txBody>
      </p:sp>
      <p:pic>
        <p:nvPicPr>
          <p:cNvPr id="4" name="Picture 4" descr="BrowserStack | Awesome MCP Servers">
            <a:extLst>
              <a:ext uri="{FF2B5EF4-FFF2-40B4-BE49-F238E27FC236}">
                <a16:creationId xmlns:a16="http://schemas.microsoft.com/office/drawing/2014/main" id="{59160469-D025-7109-E861-2C967235D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888" y="3502569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3665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80D40-AFC5-E736-0529-65C1E028A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669" y="1742087"/>
            <a:ext cx="6202526" cy="3719145"/>
          </a:xfrm>
        </p:spPr>
        <p:txBody>
          <a:bodyPr>
            <a:normAutofit/>
          </a:bodyPr>
          <a:lstStyle/>
          <a:p>
            <a:r>
              <a:rPr lang="en-US" sz="2400" dirty="0"/>
              <a:t>Agent </a:t>
            </a:r>
            <a:r>
              <a:rPr lang="en-US" sz="2400" dirty="0" err="1"/>
              <a:t>zavolá</a:t>
            </a:r>
            <a:r>
              <a:rPr lang="en-US" sz="2400" dirty="0"/>
              <a:t> MCP tool </a:t>
            </a:r>
            <a:r>
              <a:rPr lang="en-US" sz="2400" dirty="0" err="1"/>
              <a:t>automaticky</a:t>
            </a:r>
            <a:endParaRPr lang="sk-SK" sz="2400" dirty="0"/>
          </a:p>
          <a:p>
            <a:r>
              <a:rPr lang="en-US" sz="2400" dirty="0" err="1"/>
              <a:t>Vstup</a:t>
            </a:r>
            <a:r>
              <a:rPr lang="en-US" sz="2400" dirty="0"/>
              <a:t>: target </a:t>
            </a:r>
            <a:r>
              <a:rPr lang="en-US" sz="2400" dirty="0" err="1"/>
              <a:t>súbor</a:t>
            </a:r>
            <a:r>
              <a:rPr lang="sk-SK" sz="2400" dirty="0"/>
              <a:t>y</a:t>
            </a:r>
            <a:r>
              <a:rPr lang="en-US" sz="2400" dirty="0"/>
              <a:t> + </a:t>
            </a:r>
            <a:r>
              <a:rPr lang="en-US" sz="2400" dirty="0" err="1"/>
              <a:t>riadky</a:t>
            </a:r>
            <a:r>
              <a:rPr lang="en-US" sz="2400" dirty="0"/>
              <a:t> + test command</a:t>
            </a:r>
            <a:endParaRPr lang="sk-SK" sz="2400" dirty="0"/>
          </a:p>
          <a:p>
            <a:r>
              <a:rPr lang="en-US" sz="2400" dirty="0"/>
              <a:t>Tool </a:t>
            </a:r>
            <a:r>
              <a:rPr lang="en-US" sz="2400" dirty="0" err="1"/>
              <a:t>pripraví</a:t>
            </a:r>
            <a:r>
              <a:rPr lang="en-US" sz="2400" dirty="0"/>
              <a:t> config pre line-filter</a:t>
            </a:r>
            <a:endParaRPr lang="sk-SK" sz="2400" dirty="0"/>
          </a:p>
          <a:p>
            <a:r>
              <a:rPr lang="en-US" sz="2400" dirty="0" err="1"/>
              <a:t>Spustí</a:t>
            </a:r>
            <a:r>
              <a:rPr lang="en-US" sz="2400" dirty="0"/>
              <a:t> </a:t>
            </a:r>
            <a:r>
              <a:rPr lang="en-US" sz="2400" dirty="0" err="1"/>
              <a:t>celý</a:t>
            </a:r>
            <a:r>
              <a:rPr lang="en-US" sz="2400" dirty="0"/>
              <a:t> Cosmic Ray workflow</a:t>
            </a:r>
            <a:endParaRPr lang="sk-SK" sz="2400" dirty="0"/>
          </a:p>
          <a:p>
            <a:r>
              <a:rPr lang="en-US" sz="2400" dirty="0" err="1"/>
              <a:t>Výstup</a:t>
            </a:r>
            <a:r>
              <a:rPr lang="en-US" sz="2400" dirty="0"/>
              <a:t>: total / executed / killed / survived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14FFB9-7C96-2D6F-87D1-03B500E04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195" y="405808"/>
            <a:ext cx="5842033" cy="39620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CB49F0-EC88-A721-AF9E-08616085A9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3195" y="4404071"/>
            <a:ext cx="5888805" cy="226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790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E14A6-664C-A853-DAE9-58173F519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11" y="259237"/>
            <a:ext cx="11422364" cy="1719072"/>
          </a:xfrm>
        </p:spPr>
        <p:txBody>
          <a:bodyPr>
            <a:normAutofit/>
          </a:bodyPr>
          <a:lstStyle/>
          <a:p>
            <a:r>
              <a:rPr lang="en-US" sz="5400" b="1" dirty="0"/>
              <a:t>Agentic </a:t>
            </a:r>
            <a:r>
              <a:rPr lang="sk-SK" sz="5400" b="1" dirty="0" err="1"/>
              <a:t>Skills</a:t>
            </a:r>
            <a:endParaRPr lang="en-US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A04FB-C02F-20F2-B79C-C3D417F21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525" y="1709928"/>
            <a:ext cx="6967234" cy="1719072"/>
          </a:xfrm>
        </p:spPr>
        <p:txBody>
          <a:bodyPr>
            <a:normAutofit/>
          </a:bodyPr>
          <a:lstStyle/>
          <a:p>
            <a:r>
              <a:rPr lang="en-US" sz="2400" dirty="0" err="1"/>
              <a:t>Špeciálne</a:t>
            </a:r>
            <a:r>
              <a:rPr lang="en-US" sz="2400" dirty="0"/>
              <a:t> </a:t>
            </a:r>
            <a:r>
              <a:rPr lang="en-US" sz="2400" dirty="0" err="1"/>
              <a:t>inštrukcie</a:t>
            </a:r>
            <a:r>
              <a:rPr lang="en-US" sz="2400" dirty="0"/>
              <a:t> pre Agenta</a:t>
            </a:r>
          </a:p>
          <a:p>
            <a:r>
              <a:rPr lang="en-US" sz="2400" dirty="0" err="1"/>
              <a:t>Načítajú</a:t>
            </a:r>
            <a:r>
              <a:rPr lang="en-US" sz="2400" dirty="0"/>
              <a:t> </a:t>
            </a:r>
            <a:r>
              <a:rPr lang="en-US" sz="2400" dirty="0" err="1"/>
              <a:t>sa</a:t>
            </a:r>
            <a:r>
              <a:rPr lang="en-US" sz="2400" dirty="0"/>
              <a:t> </a:t>
            </a:r>
            <a:r>
              <a:rPr lang="en-US" sz="2400" dirty="0" err="1"/>
              <a:t>pri</a:t>
            </a:r>
            <a:r>
              <a:rPr lang="en-US" sz="2400" dirty="0"/>
              <a:t> </a:t>
            </a:r>
            <a:r>
              <a:rPr lang="en-US" sz="2400" dirty="0" err="1"/>
              <a:t>relevantnom</a:t>
            </a:r>
            <a:r>
              <a:rPr lang="en-US" sz="2400" dirty="0"/>
              <a:t> </a:t>
            </a:r>
            <a:r>
              <a:rPr lang="en-US" sz="2400" dirty="0" err="1"/>
              <a:t>zadaní</a:t>
            </a:r>
            <a:r>
              <a:rPr lang="en-US" sz="2400" dirty="0"/>
              <a:t> </a:t>
            </a:r>
            <a:r>
              <a:rPr lang="en-US" sz="2400" dirty="0" err="1"/>
              <a:t>úlohy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0A5A41-AF89-219F-E006-7216E2A05B88}"/>
              </a:ext>
            </a:extLst>
          </p:cNvPr>
          <p:cNvSpPr txBox="1">
            <a:spLocks/>
          </p:cNvSpPr>
          <p:nvPr/>
        </p:nvSpPr>
        <p:spPr>
          <a:xfrm>
            <a:off x="254524" y="2884603"/>
            <a:ext cx="6815579" cy="3714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Moje </a:t>
            </a:r>
            <a:r>
              <a:rPr lang="en-US" sz="2400" dirty="0" err="1"/>
              <a:t>využitie</a:t>
            </a:r>
            <a:r>
              <a:rPr lang="en-US" sz="2400" dirty="0"/>
              <a:t>:</a:t>
            </a:r>
          </a:p>
          <a:p>
            <a:r>
              <a:rPr lang="en-US" sz="2400" dirty="0"/>
              <a:t>Skill </a:t>
            </a:r>
            <a:r>
              <a:rPr lang="en-US" sz="2400" dirty="0" err="1"/>
              <a:t>sa</a:t>
            </a:r>
            <a:r>
              <a:rPr lang="en-US" sz="2400" dirty="0"/>
              <a:t> </a:t>
            </a:r>
            <a:r>
              <a:rPr lang="en-US" sz="2400" dirty="0" err="1"/>
              <a:t>loadne</a:t>
            </a:r>
            <a:r>
              <a:rPr lang="en-US" sz="2400" dirty="0"/>
              <a:t> </a:t>
            </a:r>
            <a:r>
              <a:rPr lang="en-US" sz="2400" dirty="0" err="1"/>
              <a:t>pri</a:t>
            </a:r>
            <a:r>
              <a:rPr lang="en-US" sz="2400" dirty="0"/>
              <a:t> targeted mutation </a:t>
            </a:r>
            <a:r>
              <a:rPr lang="en-US" sz="2400" dirty="0" err="1"/>
              <a:t>testingu</a:t>
            </a:r>
            <a:endParaRPr lang="en-US" sz="2400" dirty="0"/>
          </a:p>
          <a:p>
            <a:r>
              <a:rPr lang="en-US" sz="2400" dirty="0" err="1"/>
              <a:t>Pomáha</a:t>
            </a:r>
            <a:r>
              <a:rPr lang="en-US" sz="2400" dirty="0"/>
              <a:t> </a:t>
            </a:r>
            <a:r>
              <a:rPr lang="en-US" sz="2400" dirty="0" err="1"/>
              <a:t>Agentovi</a:t>
            </a:r>
            <a:r>
              <a:rPr lang="en-US" sz="2400" dirty="0"/>
              <a:t> </a:t>
            </a:r>
            <a:r>
              <a:rPr lang="en-US" sz="2400" dirty="0" err="1"/>
              <a:t>vybrať</a:t>
            </a:r>
            <a:r>
              <a:rPr lang="en-US" sz="2400" dirty="0"/>
              <a:t> </a:t>
            </a:r>
            <a:r>
              <a:rPr lang="en-US" sz="2400" dirty="0" err="1"/>
              <a:t>minimálny</a:t>
            </a:r>
            <a:r>
              <a:rPr lang="en-US" sz="2400" dirty="0"/>
              <a:t> </a:t>
            </a:r>
            <a:r>
              <a:rPr lang="en-US" sz="2400" dirty="0" err="1"/>
              <a:t>relevantný</a:t>
            </a:r>
            <a:r>
              <a:rPr lang="en-US" sz="2400" dirty="0"/>
              <a:t> test command</a:t>
            </a:r>
          </a:p>
          <a:p>
            <a:r>
              <a:rPr lang="en-US" sz="2400" dirty="0" err="1"/>
              <a:t>Definuje</a:t>
            </a:r>
            <a:r>
              <a:rPr lang="en-US" sz="2400" dirty="0"/>
              <a:t> </a:t>
            </a:r>
            <a:r>
              <a:rPr lang="en-US" sz="2400" dirty="0" err="1"/>
              <a:t>ako</a:t>
            </a:r>
            <a:r>
              <a:rPr lang="en-US" sz="2400" dirty="0"/>
              <a:t> </a:t>
            </a:r>
            <a:r>
              <a:rPr lang="en-US" sz="2400" dirty="0" err="1"/>
              <a:t>sa</a:t>
            </a:r>
            <a:r>
              <a:rPr lang="en-US" sz="2400" dirty="0"/>
              <a:t> Agent </a:t>
            </a:r>
            <a:r>
              <a:rPr lang="en-US" sz="2400" dirty="0" err="1"/>
              <a:t>má</a:t>
            </a:r>
            <a:r>
              <a:rPr lang="en-US" sz="2400" dirty="0"/>
              <a:t> </a:t>
            </a:r>
            <a:r>
              <a:rPr lang="en-US" sz="2400" dirty="0" err="1"/>
              <a:t>správať</a:t>
            </a:r>
            <a:r>
              <a:rPr lang="en-US" sz="2400" dirty="0"/>
              <a:t> </a:t>
            </a:r>
            <a:r>
              <a:rPr lang="en-US" sz="2400" dirty="0" err="1"/>
              <a:t>pri</a:t>
            </a:r>
            <a:r>
              <a:rPr lang="en-US" sz="2400" dirty="0"/>
              <a:t> </a:t>
            </a:r>
            <a:r>
              <a:rPr lang="en-US" sz="2400" dirty="0" err="1"/>
              <a:t>otázkach</a:t>
            </a:r>
            <a:r>
              <a:rPr lang="en-US" sz="2400" dirty="0"/>
              <a:t> </a:t>
            </a:r>
            <a:r>
              <a:rPr lang="en-US" sz="2400" dirty="0" err="1"/>
              <a:t>usera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3B58AF-C0CC-6019-4B27-3A78DF539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164" y="869063"/>
            <a:ext cx="5203596" cy="539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450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A3489F-60A4-E68F-03CE-FCAA87BE7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1A9189-BE59-281A-B6C9-27A9D5A7A0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9B98CC-CC1A-46FD-A566-8A26C41BD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B34927-D7C5-4CED-835D-BED6C30D0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F1BD85-FD3A-91C6-CA31-21AFAC115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A08BDB-B08C-37D9-3B11-7620A459C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368DD8-F5E2-9C6B-87DC-BE7063613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693" y="153904"/>
            <a:ext cx="11078957" cy="1364504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Mutation Testing in Practice: Insights from Open-Source Software Developers</a:t>
            </a:r>
            <a:endParaRPr lang="en-US" b="1" i="1" dirty="0">
              <a:solidFill>
                <a:schemeClr val="bg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B36DE11-7EF5-76FB-FDA9-DBB717201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690891"/>
            <a:ext cx="10515600" cy="3703230"/>
          </a:xfrm>
        </p:spPr>
        <p:txBody>
          <a:bodyPr>
            <a:normAutofit/>
          </a:bodyPr>
          <a:lstStyle/>
          <a:p>
            <a:r>
              <a:rPr lang="en-US" sz="2400" dirty="0"/>
              <a:t>Autori </a:t>
            </a:r>
            <a:r>
              <a:rPr lang="en-US" sz="2400" dirty="0" err="1"/>
              <a:t>skúmali</a:t>
            </a:r>
            <a:r>
              <a:rPr lang="en-US" sz="2400" dirty="0"/>
              <a:t>, </a:t>
            </a:r>
            <a:r>
              <a:rPr lang="en-US" sz="2400" dirty="0" err="1"/>
              <a:t>ako</a:t>
            </a:r>
            <a:r>
              <a:rPr lang="en-US" sz="2400" dirty="0"/>
              <a:t> </a:t>
            </a:r>
            <a:r>
              <a:rPr lang="en-US" sz="2400" dirty="0" err="1"/>
              <a:t>sa</a:t>
            </a:r>
            <a:r>
              <a:rPr lang="en-US" sz="2400" dirty="0"/>
              <a:t> mutation testing </a:t>
            </a:r>
            <a:r>
              <a:rPr lang="en-US" sz="2400" dirty="0" err="1"/>
              <a:t>reálne</a:t>
            </a:r>
            <a:r>
              <a:rPr lang="en-US" sz="2400" dirty="0"/>
              <a:t> </a:t>
            </a:r>
            <a:r>
              <a:rPr lang="en-US" sz="2400" dirty="0" err="1"/>
              <a:t>používa</a:t>
            </a:r>
            <a:r>
              <a:rPr lang="en-US" sz="2400" dirty="0"/>
              <a:t> v open-source </a:t>
            </a:r>
            <a:r>
              <a:rPr lang="en-US" sz="2400" dirty="0" err="1"/>
              <a:t>projektoch</a:t>
            </a:r>
            <a:r>
              <a:rPr lang="en-US" sz="2400" dirty="0"/>
              <a:t>. </a:t>
            </a:r>
            <a:r>
              <a:rPr lang="en-US" sz="2400" dirty="0" err="1"/>
              <a:t>Spravili</a:t>
            </a:r>
            <a:r>
              <a:rPr lang="en-US" sz="2400" dirty="0"/>
              <a:t> </a:t>
            </a:r>
            <a:r>
              <a:rPr lang="en-US" sz="2400" dirty="0" err="1"/>
              <a:t>dotazník</a:t>
            </a:r>
            <a:r>
              <a:rPr lang="en-US" sz="2400" dirty="0"/>
              <a:t> </a:t>
            </a:r>
            <a:r>
              <a:rPr lang="en-US" sz="2400" dirty="0" err="1"/>
              <a:t>medzi</a:t>
            </a:r>
            <a:r>
              <a:rPr lang="en-US" sz="2400" dirty="0"/>
              <a:t> </a:t>
            </a:r>
            <a:r>
              <a:rPr lang="en-US" sz="2400" b="1" dirty="0"/>
              <a:t>104 </a:t>
            </a:r>
            <a:r>
              <a:rPr lang="en-US" sz="2400" b="1" dirty="0" err="1"/>
              <a:t>developermi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 err="1"/>
              <a:t>Čo</a:t>
            </a:r>
            <a:r>
              <a:rPr lang="en-US" sz="2400" b="1" dirty="0"/>
              <a:t> </a:t>
            </a:r>
            <a:r>
              <a:rPr lang="en-US" sz="2400" b="1" dirty="0" err="1"/>
              <a:t>sa</a:t>
            </a:r>
            <a:r>
              <a:rPr lang="en-US" sz="2400" b="1" dirty="0"/>
              <a:t> tam </a:t>
            </a:r>
            <a:r>
              <a:rPr lang="en-US" sz="2400" b="1" dirty="0" err="1"/>
              <a:t>riešilo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 err="1"/>
              <a:t>prečo</a:t>
            </a:r>
            <a:r>
              <a:rPr lang="en-US" sz="2400" dirty="0"/>
              <a:t> </a:t>
            </a:r>
            <a:r>
              <a:rPr lang="en-US" sz="2400" dirty="0" err="1"/>
              <a:t>developeri</a:t>
            </a:r>
            <a:r>
              <a:rPr lang="en-US" sz="2400" dirty="0"/>
              <a:t> </a:t>
            </a:r>
            <a:r>
              <a:rPr lang="en-US" sz="2400" dirty="0" err="1"/>
              <a:t>používajú</a:t>
            </a:r>
            <a:r>
              <a:rPr lang="en-US" sz="2400" dirty="0"/>
              <a:t> mutation testing, </a:t>
            </a:r>
          </a:p>
          <a:p>
            <a:r>
              <a:rPr lang="en-US" sz="2400" dirty="0" err="1"/>
              <a:t>aké</a:t>
            </a:r>
            <a:r>
              <a:rPr lang="en-US" sz="2400" dirty="0"/>
              <a:t> </a:t>
            </a:r>
            <a:r>
              <a:rPr lang="en-US" sz="2400" dirty="0" err="1"/>
              <a:t>nástroje</a:t>
            </a:r>
            <a:r>
              <a:rPr lang="en-US" sz="2400" dirty="0"/>
              <a:t> </a:t>
            </a:r>
            <a:r>
              <a:rPr lang="en-US" sz="2400" dirty="0" err="1"/>
              <a:t>používajú</a:t>
            </a:r>
            <a:r>
              <a:rPr lang="en-US" sz="2400" dirty="0"/>
              <a:t>, </a:t>
            </a:r>
          </a:p>
          <a:p>
            <a:r>
              <a:rPr lang="en-US" sz="2400" dirty="0" err="1"/>
              <a:t>aké</a:t>
            </a:r>
            <a:r>
              <a:rPr lang="en-US" sz="2400" dirty="0"/>
              <a:t> </a:t>
            </a:r>
            <a:r>
              <a:rPr lang="en-US" sz="2400" dirty="0" err="1"/>
              <a:t>výhody</a:t>
            </a:r>
            <a:r>
              <a:rPr lang="en-US" sz="2400" dirty="0"/>
              <a:t> a </a:t>
            </a:r>
            <a:r>
              <a:rPr lang="en-US" sz="2400" dirty="0" err="1"/>
              <a:t>problémy</a:t>
            </a:r>
            <a:r>
              <a:rPr lang="en-US" sz="2400" dirty="0"/>
              <a:t> </a:t>
            </a:r>
            <a:r>
              <a:rPr lang="en-US" sz="2400" dirty="0" err="1"/>
              <a:t>vnímajú</a:t>
            </a:r>
            <a:r>
              <a:rPr lang="en-US" sz="2400" dirty="0"/>
              <a:t>, </a:t>
            </a:r>
          </a:p>
          <a:p>
            <a:r>
              <a:rPr lang="en-US" sz="2400" dirty="0" err="1"/>
              <a:t>čo</a:t>
            </a:r>
            <a:r>
              <a:rPr lang="en-US" sz="2400" dirty="0"/>
              <a:t> </a:t>
            </a:r>
            <a:r>
              <a:rPr lang="en-US" sz="2400" dirty="0" err="1"/>
              <a:t>im</a:t>
            </a:r>
            <a:r>
              <a:rPr lang="en-US" sz="2400" dirty="0"/>
              <a:t> </a:t>
            </a:r>
            <a:r>
              <a:rPr lang="en-US" sz="2400" dirty="0" err="1"/>
              <a:t>bráni</a:t>
            </a:r>
            <a:r>
              <a:rPr lang="en-US" sz="2400" dirty="0"/>
              <a:t> </a:t>
            </a:r>
            <a:r>
              <a:rPr lang="en-US" sz="2400" dirty="0" err="1"/>
              <a:t>používať</a:t>
            </a:r>
            <a:r>
              <a:rPr lang="en-US" sz="2400" dirty="0"/>
              <a:t> mutation testing </a:t>
            </a:r>
            <a:r>
              <a:rPr lang="en-US" sz="2400" dirty="0" err="1"/>
              <a:t>viac</a:t>
            </a:r>
            <a:r>
              <a:rPr lang="en-US" sz="2400" dirty="0"/>
              <a:t>.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 err="1"/>
              <a:t>Hlavná</a:t>
            </a:r>
            <a:r>
              <a:rPr lang="en-US" sz="2400" b="1" dirty="0"/>
              <a:t> </a:t>
            </a:r>
            <a:r>
              <a:rPr lang="en-US" sz="2400" b="1" dirty="0" err="1"/>
              <a:t>pointa</a:t>
            </a:r>
            <a:r>
              <a:rPr lang="en-US" sz="2400" b="1" dirty="0"/>
              <a:t>: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1224355-595B-CA25-C0A0-80BD9229F174}"/>
              </a:ext>
            </a:extLst>
          </p:cNvPr>
          <p:cNvSpPr txBox="1">
            <a:spLocks/>
          </p:cNvSpPr>
          <p:nvPr/>
        </p:nvSpPr>
        <p:spPr>
          <a:xfrm>
            <a:off x="838198" y="5231699"/>
            <a:ext cx="9192588" cy="110831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Developeri</a:t>
            </a:r>
            <a:r>
              <a:rPr lang="en-US" dirty="0"/>
              <a:t> mutation testing </a:t>
            </a:r>
            <a:r>
              <a:rPr lang="en-US" dirty="0" err="1"/>
              <a:t>hodnotia</a:t>
            </a:r>
            <a:r>
              <a:rPr lang="en-US" dirty="0"/>
              <a:t> </a:t>
            </a:r>
            <a:r>
              <a:rPr lang="en-US" dirty="0" err="1"/>
              <a:t>pozitívne</a:t>
            </a:r>
            <a:r>
              <a:rPr lang="en-US" dirty="0"/>
              <a:t>, </a:t>
            </a:r>
            <a:r>
              <a:rPr lang="en-US" dirty="0" err="1"/>
              <a:t>pomáha</a:t>
            </a:r>
            <a:r>
              <a:rPr lang="en-US" dirty="0"/>
              <a:t> </a:t>
            </a:r>
            <a:r>
              <a:rPr lang="en-US" dirty="0" err="1"/>
              <a:t>zlepšovať</a:t>
            </a:r>
            <a:r>
              <a:rPr lang="en-US" dirty="0"/>
              <a:t> testy, </a:t>
            </a:r>
            <a:r>
              <a:rPr lang="en-US" dirty="0" err="1"/>
              <a:t>hľadať</a:t>
            </a:r>
            <a:r>
              <a:rPr lang="en-US" dirty="0"/>
              <a:t> </a:t>
            </a:r>
            <a:r>
              <a:rPr lang="en-US" dirty="0" err="1"/>
              <a:t>slabé</a:t>
            </a:r>
            <a:r>
              <a:rPr lang="en-US" dirty="0"/>
              <a:t> </a:t>
            </a:r>
            <a:r>
              <a:rPr lang="en-US" dirty="0" err="1"/>
              <a:t>miesta</a:t>
            </a:r>
            <a:r>
              <a:rPr lang="en-US" dirty="0"/>
              <a:t> a </a:t>
            </a:r>
            <a:r>
              <a:rPr lang="en-US" dirty="0" err="1"/>
              <a:t>niekedy</a:t>
            </a:r>
            <a:r>
              <a:rPr lang="en-US" dirty="0"/>
              <a:t> </a:t>
            </a:r>
            <a:r>
              <a:rPr lang="en-US" dirty="0" err="1"/>
              <a:t>aj</a:t>
            </a:r>
            <a:r>
              <a:rPr lang="en-US" dirty="0"/>
              <a:t> </a:t>
            </a:r>
            <a:r>
              <a:rPr lang="en-US" dirty="0" err="1"/>
              <a:t>bugy</a:t>
            </a:r>
            <a:r>
              <a:rPr lang="en-US" dirty="0"/>
              <a:t>.</a:t>
            </a:r>
          </a:p>
          <a:p>
            <a:r>
              <a:rPr lang="en-US" dirty="0" err="1"/>
              <a:t>Najväčšie</a:t>
            </a:r>
            <a:r>
              <a:rPr lang="en-US" dirty="0"/>
              <a:t> </a:t>
            </a:r>
            <a:r>
              <a:rPr lang="en-US" dirty="0" err="1"/>
              <a:t>problémy</a:t>
            </a:r>
            <a:r>
              <a:rPr lang="en-US" dirty="0"/>
              <a:t> </a:t>
            </a:r>
            <a:r>
              <a:rPr lang="en-US" dirty="0" err="1"/>
              <a:t>sú</a:t>
            </a:r>
            <a:r>
              <a:rPr lang="en-US" dirty="0"/>
              <a:t> performance a </a:t>
            </a:r>
            <a:r>
              <a:rPr lang="en-US" dirty="0" err="1"/>
              <a:t>settuping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748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CD8FDB-1249-7735-752B-9E785EB21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90B79C-312D-E902-86FC-2C45AB7A5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2925E6-3D93-8040-8CC5-88F59E5AA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F5BA49-2392-7866-7D1D-5960777CF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A6A8C6-BDC6-5D53-B08C-EA4EC3F10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E5AEC4-9600-833A-A918-9178C04A6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82CA7-B938-984C-63FC-CBE5B1CB0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693" y="153904"/>
            <a:ext cx="11078957" cy="1364504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Mutation-Guided LLM-based Test Generation at Meta</a:t>
            </a:r>
            <a:endParaRPr lang="en-US" b="1" i="1" dirty="0">
              <a:solidFill>
                <a:schemeClr val="bg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B571E64-1CDD-3626-1A14-850CBAFC1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693" y="1816725"/>
            <a:ext cx="10623956" cy="4642797"/>
          </a:xfrm>
        </p:spPr>
        <p:txBody>
          <a:bodyPr>
            <a:noAutofit/>
          </a:bodyPr>
          <a:lstStyle/>
          <a:p>
            <a:r>
              <a:rPr lang="en-US" sz="2000" dirty="0"/>
              <a:t>Autori </a:t>
            </a:r>
            <a:r>
              <a:rPr lang="en-US" sz="2000" dirty="0" err="1"/>
              <a:t>predstavili</a:t>
            </a:r>
            <a:r>
              <a:rPr lang="en-US" sz="2000" dirty="0"/>
              <a:t> </a:t>
            </a:r>
            <a:r>
              <a:rPr lang="en-US" sz="2000" dirty="0" err="1"/>
              <a:t>systém</a:t>
            </a:r>
            <a:r>
              <a:rPr lang="en-US" sz="2000" dirty="0"/>
              <a:t> ACH od Meta, </a:t>
            </a:r>
            <a:r>
              <a:rPr lang="en-US" sz="2000" dirty="0" err="1"/>
              <a:t>ktorý</a:t>
            </a:r>
            <a:r>
              <a:rPr lang="en-US" sz="2000" dirty="0"/>
              <a:t> </a:t>
            </a:r>
            <a:r>
              <a:rPr lang="en-US" sz="2000" dirty="0" err="1"/>
              <a:t>spája</a:t>
            </a:r>
            <a:r>
              <a:rPr lang="en-US" sz="2000" dirty="0"/>
              <a:t> mutation testing a LLM</a:t>
            </a:r>
          </a:p>
          <a:p>
            <a:r>
              <a:rPr lang="en-US" sz="2000" dirty="0" err="1"/>
              <a:t>Cieľom</a:t>
            </a:r>
            <a:r>
              <a:rPr lang="en-US" sz="2000" dirty="0"/>
              <a:t> bolo </a:t>
            </a:r>
            <a:r>
              <a:rPr lang="en-US" sz="2000" dirty="0" err="1"/>
              <a:t>automaticky</a:t>
            </a:r>
            <a:r>
              <a:rPr lang="en-US" sz="2000" dirty="0"/>
              <a:t> </a:t>
            </a:r>
            <a:r>
              <a:rPr lang="en-US" sz="2000" dirty="0" err="1"/>
              <a:t>generovať</a:t>
            </a:r>
            <a:r>
              <a:rPr lang="en-US" sz="2000" dirty="0"/>
              <a:t> testy </a:t>
            </a:r>
            <a:r>
              <a:rPr lang="en-US" sz="2000" dirty="0" err="1"/>
              <a:t>na</a:t>
            </a:r>
            <a:r>
              <a:rPr lang="en-US" sz="2000" dirty="0"/>
              <a:t> </a:t>
            </a:r>
            <a:r>
              <a:rPr lang="en-US" sz="2000" dirty="0" err="1"/>
              <a:t>konkrétne</a:t>
            </a:r>
            <a:r>
              <a:rPr lang="en-US" sz="2000" dirty="0"/>
              <a:t> </a:t>
            </a:r>
            <a:r>
              <a:rPr lang="en-US" sz="2000" dirty="0" err="1"/>
              <a:t>typy</a:t>
            </a:r>
            <a:r>
              <a:rPr lang="en-US" sz="2000" dirty="0"/>
              <a:t> </a:t>
            </a:r>
            <a:r>
              <a:rPr lang="en-US" sz="2000" dirty="0" err="1"/>
              <a:t>chýb</a:t>
            </a:r>
            <a:r>
              <a:rPr lang="en-US" sz="2000" dirty="0"/>
              <a:t>, </a:t>
            </a:r>
            <a:r>
              <a:rPr lang="en-US" sz="2000" dirty="0" err="1"/>
              <a:t>hlavne</a:t>
            </a:r>
            <a:r>
              <a:rPr lang="en-US" sz="2000" dirty="0"/>
              <a:t> privacy </a:t>
            </a:r>
            <a:r>
              <a:rPr lang="en-US" sz="2000" dirty="0" err="1"/>
              <a:t>regresie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LLM </a:t>
            </a:r>
            <a:r>
              <a:rPr lang="en-US" sz="2000" dirty="0" err="1"/>
              <a:t>najprv</a:t>
            </a:r>
            <a:r>
              <a:rPr lang="en-US" sz="2000" dirty="0"/>
              <a:t> </a:t>
            </a:r>
            <a:r>
              <a:rPr lang="en-US" sz="2000" dirty="0" err="1"/>
              <a:t>vytvorí</a:t>
            </a:r>
            <a:r>
              <a:rPr lang="en-US" sz="2000" dirty="0"/>
              <a:t> </a:t>
            </a:r>
            <a:r>
              <a:rPr lang="en-US" sz="2000" dirty="0" err="1"/>
              <a:t>mutanta</a:t>
            </a:r>
            <a:endParaRPr lang="en-US" sz="2000" dirty="0"/>
          </a:p>
          <a:p>
            <a:r>
              <a:rPr lang="en-US" sz="2000" dirty="0" err="1"/>
              <a:t>následne</a:t>
            </a:r>
            <a:r>
              <a:rPr lang="en-US" sz="2000" dirty="0"/>
              <a:t> LLM </a:t>
            </a:r>
            <a:r>
              <a:rPr lang="en-US" sz="2000" dirty="0" err="1"/>
              <a:t>generuje</a:t>
            </a:r>
            <a:r>
              <a:rPr lang="en-US" sz="2000" dirty="0"/>
              <a:t> test, </a:t>
            </a:r>
            <a:r>
              <a:rPr lang="en-US" sz="2000" dirty="0" err="1"/>
              <a:t>ktorý</a:t>
            </a:r>
            <a:r>
              <a:rPr lang="en-US" sz="2000" dirty="0"/>
              <a:t> </a:t>
            </a:r>
            <a:r>
              <a:rPr lang="en-US" sz="2000" dirty="0" err="1"/>
              <a:t>má</a:t>
            </a:r>
            <a:r>
              <a:rPr lang="en-US" sz="2000" dirty="0"/>
              <a:t> </a:t>
            </a:r>
            <a:r>
              <a:rPr lang="en-US" sz="2000" dirty="0" err="1"/>
              <a:t>túto</a:t>
            </a:r>
            <a:r>
              <a:rPr lang="en-US" sz="2000" dirty="0"/>
              <a:t> </a:t>
            </a:r>
            <a:r>
              <a:rPr lang="en-US" sz="2000" dirty="0" err="1"/>
              <a:t>chybu</a:t>
            </a:r>
            <a:r>
              <a:rPr lang="en-US" sz="2000" dirty="0"/>
              <a:t> </a:t>
            </a:r>
            <a:r>
              <a:rPr lang="en-US" sz="2000" dirty="0" err="1"/>
              <a:t>odhaliť</a:t>
            </a:r>
            <a:endParaRPr lang="en-US" sz="2000" dirty="0"/>
          </a:p>
          <a:p>
            <a:r>
              <a:rPr lang="en-US" sz="2000" dirty="0" err="1"/>
              <a:t>systém</a:t>
            </a:r>
            <a:r>
              <a:rPr lang="en-US" sz="2000" dirty="0"/>
              <a:t> </a:t>
            </a:r>
            <a:r>
              <a:rPr lang="en-US" sz="2000" dirty="0" err="1"/>
              <a:t>kontroluje</a:t>
            </a:r>
            <a:r>
              <a:rPr lang="en-US" sz="2000" dirty="0"/>
              <a:t>, </a:t>
            </a:r>
            <a:r>
              <a:rPr lang="en-US" sz="2000" dirty="0" err="1"/>
              <a:t>či</a:t>
            </a:r>
            <a:r>
              <a:rPr lang="en-US" sz="2000" dirty="0"/>
              <a:t> test </a:t>
            </a:r>
            <a:r>
              <a:rPr lang="en-US" sz="2000" dirty="0" err="1"/>
              <a:t>buildne</a:t>
            </a:r>
            <a:r>
              <a:rPr lang="en-US" sz="2000" dirty="0"/>
              <a:t>, </a:t>
            </a:r>
            <a:r>
              <a:rPr lang="en-US" sz="2000" dirty="0" err="1"/>
              <a:t>prejde</a:t>
            </a:r>
            <a:r>
              <a:rPr lang="en-US" sz="2000" dirty="0"/>
              <a:t> </a:t>
            </a:r>
            <a:r>
              <a:rPr lang="en-US" sz="2000" dirty="0" err="1"/>
              <a:t>na</a:t>
            </a:r>
            <a:r>
              <a:rPr lang="en-US" sz="2000" dirty="0"/>
              <a:t> </a:t>
            </a:r>
            <a:r>
              <a:rPr lang="en-US" sz="2000" dirty="0" err="1"/>
              <a:t>pôvodnom</a:t>
            </a:r>
            <a:r>
              <a:rPr lang="en-US" sz="2000" dirty="0"/>
              <a:t> </a:t>
            </a:r>
            <a:r>
              <a:rPr lang="en-US" sz="2000" dirty="0" err="1"/>
              <a:t>kóde</a:t>
            </a:r>
            <a:r>
              <a:rPr lang="en-US" sz="2000" dirty="0"/>
              <a:t> a </a:t>
            </a:r>
            <a:r>
              <a:rPr lang="en-US" sz="2000" dirty="0" err="1"/>
              <a:t>zlyhá</a:t>
            </a:r>
            <a:r>
              <a:rPr lang="en-US" sz="2000" dirty="0"/>
              <a:t> </a:t>
            </a:r>
            <a:r>
              <a:rPr lang="en-US" sz="2000" dirty="0" err="1"/>
              <a:t>na</a:t>
            </a:r>
            <a:r>
              <a:rPr lang="en-US" sz="2000" dirty="0"/>
              <a:t> </a:t>
            </a:r>
            <a:r>
              <a:rPr lang="en-US" sz="2000" dirty="0" err="1"/>
              <a:t>mutantovi</a:t>
            </a:r>
            <a:endParaRPr lang="en-US" sz="2000" dirty="0"/>
          </a:p>
          <a:p>
            <a:r>
              <a:rPr lang="en-US" sz="2000" dirty="0" err="1"/>
              <a:t>riešili</a:t>
            </a:r>
            <a:r>
              <a:rPr lang="en-US" sz="2000" dirty="0"/>
              <a:t> </a:t>
            </a:r>
            <a:r>
              <a:rPr lang="en-US" sz="2000" dirty="0" err="1"/>
              <a:t>aj</a:t>
            </a:r>
            <a:r>
              <a:rPr lang="en-US" sz="2000" dirty="0"/>
              <a:t> </a:t>
            </a:r>
            <a:r>
              <a:rPr lang="en-US" sz="2000" dirty="0" err="1"/>
              <a:t>problém</a:t>
            </a:r>
            <a:r>
              <a:rPr lang="en-US" sz="2000" dirty="0"/>
              <a:t> </a:t>
            </a:r>
            <a:r>
              <a:rPr lang="en-US" sz="2000" dirty="0" err="1"/>
              <a:t>ekvivalentných</a:t>
            </a:r>
            <a:r>
              <a:rPr lang="en-US" sz="2000" dirty="0"/>
              <a:t> </a:t>
            </a:r>
            <a:r>
              <a:rPr lang="en-US" sz="2000" dirty="0" err="1"/>
              <a:t>mutantov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Mutation testing </a:t>
            </a:r>
            <a:r>
              <a:rPr lang="en-US" sz="2000" dirty="0" err="1"/>
              <a:t>sa</a:t>
            </a:r>
            <a:r>
              <a:rPr lang="en-US" sz="2000" dirty="0"/>
              <a:t> </a:t>
            </a:r>
            <a:r>
              <a:rPr lang="en-US" sz="2000" dirty="0" err="1"/>
              <a:t>dá</a:t>
            </a:r>
            <a:r>
              <a:rPr lang="en-US" sz="2000" dirty="0"/>
              <a:t> </a:t>
            </a:r>
            <a:r>
              <a:rPr lang="en-US" sz="2000" dirty="0" err="1"/>
              <a:t>použiť</a:t>
            </a:r>
            <a:r>
              <a:rPr lang="en-US" sz="2000" dirty="0"/>
              <a:t> </a:t>
            </a:r>
            <a:r>
              <a:rPr lang="en-US" sz="2000" dirty="0" err="1"/>
              <a:t>ako</a:t>
            </a:r>
            <a:r>
              <a:rPr lang="en-US" sz="2000" dirty="0"/>
              <a:t> </a:t>
            </a:r>
            <a:r>
              <a:rPr lang="en-US" sz="2000" dirty="0" err="1"/>
              <a:t>návod</a:t>
            </a:r>
            <a:r>
              <a:rPr lang="en-US" sz="2000" dirty="0"/>
              <a:t> pre LLM</a:t>
            </a:r>
          </a:p>
          <a:p>
            <a:r>
              <a:rPr lang="en-US" sz="2000" dirty="0"/>
              <a:t>ACH </a:t>
            </a:r>
            <a:r>
              <a:rPr lang="en-US" sz="2000" dirty="0" err="1"/>
              <a:t>bol</a:t>
            </a:r>
            <a:r>
              <a:rPr lang="en-US" sz="2000" dirty="0"/>
              <a:t> </a:t>
            </a:r>
            <a:r>
              <a:rPr lang="en-US" sz="2000" dirty="0" err="1"/>
              <a:t>nasadený</a:t>
            </a:r>
            <a:r>
              <a:rPr lang="en-US" sz="2000" dirty="0"/>
              <a:t> </a:t>
            </a:r>
            <a:r>
              <a:rPr lang="en-US" sz="2000" dirty="0" err="1"/>
              <a:t>na</a:t>
            </a:r>
            <a:r>
              <a:rPr lang="en-US" sz="2000" dirty="0"/>
              <a:t> </a:t>
            </a:r>
            <a:r>
              <a:rPr lang="en-US" sz="2000" dirty="0" err="1"/>
              <a:t>reálnych</a:t>
            </a:r>
            <a:r>
              <a:rPr lang="en-US" sz="2000" dirty="0"/>
              <a:t> Meta </a:t>
            </a:r>
            <a:r>
              <a:rPr lang="en-US" sz="2000" dirty="0" err="1"/>
              <a:t>platformách</a:t>
            </a:r>
            <a:r>
              <a:rPr lang="en-US" sz="2000" dirty="0"/>
              <a:t> a </a:t>
            </a:r>
            <a:r>
              <a:rPr lang="en-US" sz="2000" dirty="0" err="1"/>
              <a:t>developeri</a:t>
            </a:r>
            <a:r>
              <a:rPr lang="en-US" sz="2000" dirty="0"/>
              <a:t> </a:t>
            </a:r>
            <a:r>
              <a:rPr lang="en-US" sz="2000" dirty="0" err="1"/>
              <a:t>prijali</a:t>
            </a:r>
            <a:r>
              <a:rPr lang="en-US" sz="2000" dirty="0"/>
              <a:t> 73 % </a:t>
            </a:r>
            <a:r>
              <a:rPr lang="en-US" sz="2000" dirty="0" err="1"/>
              <a:t>vygenerovaných</a:t>
            </a:r>
            <a:r>
              <a:rPr lang="en-US" sz="2000" dirty="0"/>
              <a:t> </a:t>
            </a:r>
            <a:r>
              <a:rPr lang="en-US" sz="2000" dirty="0" err="1"/>
              <a:t>testov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82038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5DD96-2F49-7904-2B67-4350F6DA4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574" y="189669"/>
            <a:ext cx="10515600" cy="1325563"/>
          </a:xfrm>
        </p:spPr>
        <p:txBody>
          <a:bodyPr/>
          <a:lstStyle/>
          <a:p>
            <a:r>
              <a:rPr lang="en-US" dirty="0" err="1"/>
              <a:t>Webstránka</a:t>
            </a:r>
            <a:r>
              <a:rPr lang="en-US" dirty="0"/>
              <a:t> </a:t>
            </a:r>
            <a:r>
              <a:rPr lang="en-US" dirty="0" err="1"/>
              <a:t>diplomovej</a:t>
            </a:r>
            <a:r>
              <a:rPr lang="en-US" dirty="0"/>
              <a:t> </a:t>
            </a:r>
            <a:r>
              <a:rPr lang="en-US" dirty="0" err="1"/>
              <a:t>práce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FE8C5-8869-AF3D-52CF-8302AA4A3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968" y="1185352"/>
            <a:ext cx="9631261" cy="101824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https://www.st.fmph.uniba.sk/~babinsky4/mutationtesting/</a:t>
            </a:r>
            <a:r>
              <a:rPr lang="en-US" dirty="0"/>
              <a:t>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49F305D-96AA-0C67-790B-D4F48C612BCF}"/>
              </a:ext>
            </a:extLst>
          </p:cNvPr>
          <p:cNvSpPr txBox="1">
            <a:spLocks/>
          </p:cNvSpPr>
          <p:nvPr/>
        </p:nvSpPr>
        <p:spPr>
          <a:xfrm>
            <a:off x="2759075" y="2840795"/>
            <a:ext cx="8372213" cy="2322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7200" b="1" i="1" dirty="0" err="1"/>
              <a:t>Ďakujem</a:t>
            </a:r>
            <a:r>
              <a:rPr lang="en-US" sz="7200" b="1" i="1" dirty="0"/>
              <a:t> za </a:t>
            </a:r>
            <a:r>
              <a:rPr lang="en-US" sz="7200" b="1" i="1" dirty="0" err="1"/>
              <a:t>pozornosť</a:t>
            </a:r>
            <a:endParaRPr lang="en-US" sz="7200" b="1" i="1" dirty="0"/>
          </a:p>
        </p:txBody>
      </p:sp>
    </p:spTree>
    <p:extLst>
      <p:ext uri="{BB962C8B-B14F-4D97-AF65-F5344CB8AC3E}">
        <p14:creationId xmlns:p14="http://schemas.microsoft.com/office/powerpoint/2010/main" val="1553985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1204</Words>
  <Application>Microsoft Office PowerPoint</Application>
  <PresentationFormat>Widescreen</PresentationFormat>
  <Paragraphs>238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Testovanie mutácií s podporou umelej inteligencie: Inteligentné procesy pre automatizované zabezpečenie kvality</vt:lpstr>
      <vt:lpstr>Problém: Code coverage neznamená kvalitné testy</vt:lpstr>
      <vt:lpstr>Riešenie: Mutation-based testing</vt:lpstr>
      <vt:lpstr>Ak je mutation testing taký dobrý, prečo ho nepoužívame všade?</vt:lpstr>
      <vt:lpstr>Možnosti riešenia:</vt:lpstr>
      <vt:lpstr>PowerPoint Presentation</vt:lpstr>
      <vt:lpstr>Testovanie cosmic-ray</vt:lpstr>
      <vt:lpstr>POC: Targeted mutation testing workflow</vt:lpstr>
      <vt:lpstr>Cosmic Ray line-filter Nová funkcionalita pre cielené mutovanie konkrétnych riadkov</vt:lpstr>
      <vt:lpstr>Skrytie “SKIPPED” mutácií v HTML report</vt:lpstr>
      <vt:lpstr>MCP Server pre mutation workflow</vt:lpstr>
      <vt:lpstr>PowerPoint Presentation</vt:lpstr>
      <vt:lpstr>Agentic Skills</vt:lpstr>
      <vt:lpstr>Mutation Testing in Practice: Insights from Open-Source Software Developers</vt:lpstr>
      <vt:lpstr>Mutation-Guided LLM-based Test Generation at Meta</vt:lpstr>
      <vt:lpstr>Webstránka diplomovej práce: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Ondrej Babinský</dc:creator>
  <cp:lastModifiedBy>Ondrej Babinský</cp:lastModifiedBy>
  <cp:revision>1</cp:revision>
  <dcterms:created xsi:type="dcterms:W3CDTF">2026-05-14T10:37:01Z</dcterms:created>
  <dcterms:modified xsi:type="dcterms:W3CDTF">2026-05-14T12:47:00Z</dcterms:modified>
</cp:coreProperties>
</file>